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Rectangle 1"/>
          <p:cNvGrpSpPr/>
          <p:nvPr/>
        </p:nvGrpSpPr>
        <p:grpSpPr>
          <a:xfrm>
            <a:off x="1763141" y="530653"/>
            <a:ext cx="2574570" cy="664749"/>
            <a:chOff x="0" y="0"/>
            <a:chExt cx="2574569" cy="664747"/>
          </a:xfrm>
        </p:grpSpPr>
        <p:sp>
          <p:nvSpPr>
            <p:cNvPr id="94" name="Rectangle"/>
            <p:cNvSpPr/>
            <p:nvPr/>
          </p:nvSpPr>
          <p:spPr>
            <a:xfrm>
              <a:off x="-1" y="0"/>
              <a:ext cx="2574571" cy="66474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5" name="Autodesk…"/>
            <p:cNvSpPr txBox="1"/>
            <p:nvPr/>
          </p:nvSpPr>
          <p:spPr>
            <a:xfrm>
              <a:off x="52069" y="17721"/>
              <a:ext cx="2470431" cy="6293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Autodesk</a:t>
              </a:r>
            </a:p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Flow Production Tracking</a:t>
              </a:r>
            </a:p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(formerly Shotgun/Shotgrid - SG)</a:t>
              </a:r>
            </a:p>
          </p:txBody>
        </p:sp>
      </p:grpSp>
      <p:grpSp>
        <p:nvGrpSpPr>
          <p:cNvPr id="101" name="Flowchart: Predefined Process 3"/>
          <p:cNvGrpSpPr/>
          <p:nvPr/>
        </p:nvGrpSpPr>
        <p:grpSpPr>
          <a:xfrm>
            <a:off x="2416729" y="2319324"/>
            <a:ext cx="1280161" cy="396241"/>
            <a:chOff x="0" y="0"/>
            <a:chExt cx="1280160" cy="396240"/>
          </a:xfrm>
        </p:grpSpPr>
        <p:grpSp>
          <p:nvGrpSpPr>
            <p:cNvPr id="99" name="Group"/>
            <p:cNvGrpSpPr/>
            <p:nvPr/>
          </p:nvGrpSpPr>
          <p:grpSpPr>
            <a:xfrm>
              <a:off x="-1" y="-1"/>
              <a:ext cx="1280162" cy="396242"/>
              <a:chOff x="0" y="0"/>
              <a:chExt cx="1280160" cy="396240"/>
            </a:xfrm>
          </p:grpSpPr>
          <p:sp>
            <p:nvSpPr>
              <p:cNvPr id="97" name="Rectangle"/>
              <p:cNvSpPr/>
              <p:nvPr/>
            </p:nvSpPr>
            <p:spPr>
              <a:xfrm>
                <a:off x="-1" y="-1"/>
                <a:ext cx="1280162" cy="396242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8" name="Shape"/>
              <p:cNvSpPr/>
              <p:nvPr/>
            </p:nvSpPr>
            <p:spPr>
              <a:xfrm>
                <a:off x="-1" y="-1"/>
                <a:ext cx="1280161" cy="3962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643515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00" name="SGORM"/>
            <p:cNvSpPr txBox="1"/>
            <p:nvPr/>
          </p:nvSpPr>
          <p:spPr>
            <a:xfrm>
              <a:off x="212090" y="73967"/>
              <a:ext cx="855980" cy="2483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SGORM</a:t>
              </a:r>
            </a:p>
          </p:txBody>
        </p:sp>
      </p:grpSp>
      <p:sp>
        <p:nvSpPr>
          <p:cNvPr id="275" name="Straight Arrow Connector 5"/>
          <p:cNvSpPr/>
          <p:nvPr/>
        </p:nvSpPr>
        <p:spPr>
          <a:xfrm>
            <a:off x="3051733" y="1201769"/>
            <a:ext cx="4288" cy="11112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05" name="Double Brace 11"/>
          <p:cNvGrpSpPr/>
          <p:nvPr/>
        </p:nvGrpSpPr>
        <p:grpSpPr>
          <a:xfrm>
            <a:off x="3134175" y="1676737"/>
            <a:ext cx="535429" cy="414721"/>
            <a:chOff x="0" y="0"/>
            <a:chExt cx="535427" cy="414719"/>
          </a:xfrm>
        </p:grpSpPr>
        <p:sp>
          <p:nvSpPr>
            <p:cNvPr id="103" name="Shape"/>
            <p:cNvSpPr/>
            <p:nvPr/>
          </p:nvSpPr>
          <p:spPr>
            <a:xfrm>
              <a:off x="0" y="37029"/>
              <a:ext cx="535428" cy="314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14" y="21600"/>
                  </a:moveTo>
                  <a:cubicBezTo>
                    <a:pt x="1530" y="21600"/>
                    <a:pt x="1057" y="20794"/>
                    <a:pt x="1057" y="19800"/>
                  </a:cubicBezTo>
                  <a:lnTo>
                    <a:pt x="1057" y="12600"/>
                  </a:lnTo>
                  <a:cubicBezTo>
                    <a:pt x="1057" y="11606"/>
                    <a:pt x="584" y="10800"/>
                    <a:pt x="0" y="10800"/>
                  </a:cubicBezTo>
                  <a:cubicBezTo>
                    <a:pt x="584" y="10800"/>
                    <a:pt x="1057" y="9994"/>
                    <a:pt x="1057" y="9000"/>
                  </a:cubicBezTo>
                  <a:lnTo>
                    <a:pt x="1057" y="1800"/>
                  </a:lnTo>
                  <a:cubicBezTo>
                    <a:pt x="1057" y="806"/>
                    <a:pt x="1530" y="0"/>
                    <a:pt x="2114" y="0"/>
                  </a:cubicBezTo>
                  <a:moveTo>
                    <a:pt x="19486" y="0"/>
                  </a:moveTo>
                  <a:cubicBezTo>
                    <a:pt x="20070" y="0"/>
                    <a:pt x="20543" y="806"/>
                    <a:pt x="20543" y="1800"/>
                  </a:cubicBezTo>
                  <a:lnTo>
                    <a:pt x="20543" y="9000"/>
                  </a:lnTo>
                  <a:cubicBezTo>
                    <a:pt x="20543" y="9994"/>
                    <a:pt x="21016" y="10800"/>
                    <a:pt x="21600" y="10800"/>
                  </a:cubicBezTo>
                  <a:cubicBezTo>
                    <a:pt x="21016" y="10800"/>
                    <a:pt x="20543" y="11606"/>
                    <a:pt x="20543" y="12600"/>
                  </a:cubicBezTo>
                  <a:lnTo>
                    <a:pt x="20543" y="19800"/>
                  </a:lnTo>
                  <a:cubicBezTo>
                    <a:pt x="20543" y="20794"/>
                    <a:pt x="20070" y="21600"/>
                    <a:pt x="19486" y="21600"/>
                  </a:cubicBezTo>
                </a:path>
              </a:pathLst>
            </a:custGeom>
            <a:noFill/>
            <a:ln w="635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700"/>
              </a:pPr>
            </a:p>
          </p:txBody>
        </p:sp>
        <p:sp>
          <p:nvSpPr>
            <p:cNvPr id="104" name="SG Schema"/>
            <p:cNvSpPr txBox="1"/>
            <p:nvPr/>
          </p:nvSpPr>
          <p:spPr>
            <a:xfrm>
              <a:off x="82774" y="0"/>
              <a:ext cx="369880" cy="4147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700"/>
              </a:lvl1pPr>
            </a:lstStyle>
            <a:p>
              <a:pPr/>
              <a:r>
                <a:t>SG Schema</a:t>
              </a:r>
            </a:p>
          </p:txBody>
        </p:sp>
      </p:grpSp>
      <p:grpSp>
        <p:nvGrpSpPr>
          <p:cNvPr id="108" name="Flowchart: Document 13"/>
          <p:cNvGrpSpPr/>
          <p:nvPr/>
        </p:nvGrpSpPr>
        <p:grpSpPr>
          <a:xfrm>
            <a:off x="4288006" y="1674963"/>
            <a:ext cx="482405" cy="391120"/>
            <a:chOff x="0" y="0"/>
            <a:chExt cx="482403" cy="391118"/>
          </a:xfrm>
        </p:grpSpPr>
        <p:sp>
          <p:nvSpPr>
            <p:cNvPr id="106" name="Shape"/>
            <p:cNvSpPr/>
            <p:nvPr/>
          </p:nvSpPr>
          <p:spPr>
            <a:xfrm>
              <a:off x="0" y="4472"/>
              <a:ext cx="482405" cy="386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255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5641"/>
                  </a:lnTo>
                  <a:cubicBezTo>
                    <a:pt x="10800" y="15641"/>
                    <a:pt x="10800" y="21600"/>
                    <a:pt x="0" y="1821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07" name="JSON file"/>
            <p:cNvSpPr txBox="1"/>
            <p:nvPr/>
          </p:nvSpPr>
          <p:spPr>
            <a:xfrm>
              <a:off x="52069" y="0"/>
              <a:ext cx="378265" cy="323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800"/>
              </a:lvl1pPr>
            </a:lstStyle>
            <a:p>
              <a:pPr/>
              <a:r>
                <a:t>JSON file</a:t>
              </a:r>
            </a:p>
          </p:txBody>
        </p:sp>
      </p:grpSp>
      <p:sp>
        <p:nvSpPr>
          <p:cNvPr id="276" name="Connector: Elbow 15"/>
          <p:cNvSpPr/>
          <p:nvPr/>
        </p:nvSpPr>
        <p:spPr>
          <a:xfrm>
            <a:off x="1502410" y="862330"/>
            <a:ext cx="2778760" cy="10071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74" y="0"/>
                </a:moveTo>
                <a:lnTo>
                  <a:pt x="0" y="0"/>
                </a:lnTo>
                <a:lnTo>
                  <a:pt x="0" y="12312"/>
                </a:lnTo>
                <a:lnTo>
                  <a:pt x="17780" y="12312"/>
                </a:lnTo>
                <a:lnTo>
                  <a:pt x="17780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77" name="Connector: Elbow 19"/>
          <p:cNvSpPr/>
          <p:nvPr/>
        </p:nvSpPr>
        <p:spPr>
          <a:xfrm>
            <a:off x="3703320" y="2061210"/>
            <a:ext cx="284480" cy="4559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13" name="Flowchart: Preparation 26"/>
          <p:cNvGrpSpPr/>
          <p:nvPr/>
        </p:nvGrpSpPr>
        <p:grpSpPr>
          <a:xfrm>
            <a:off x="1919422" y="1355159"/>
            <a:ext cx="1137387" cy="323017"/>
            <a:chOff x="0" y="0"/>
            <a:chExt cx="1137386" cy="323016"/>
          </a:xfrm>
        </p:grpSpPr>
        <p:sp>
          <p:nvSpPr>
            <p:cNvPr id="111" name="Shape"/>
            <p:cNvSpPr/>
            <p:nvPr/>
          </p:nvSpPr>
          <p:spPr>
            <a:xfrm>
              <a:off x="0" y="38362"/>
              <a:ext cx="1137387" cy="246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320" y="0"/>
                  </a:lnTo>
                  <a:lnTo>
                    <a:pt x="17280" y="0"/>
                  </a:lnTo>
                  <a:lnTo>
                    <a:pt x="21600" y="10800"/>
                  </a:lnTo>
                  <a:lnTo>
                    <a:pt x="17280" y="21600"/>
                  </a:lnTo>
                  <a:lnTo>
                    <a:pt x="432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12" name="SG Connection"/>
            <p:cNvSpPr txBox="1"/>
            <p:nvPr/>
          </p:nvSpPr>
          <p:spPr>
            <a:xfrm>
              <a:off x="279547" y="0"/>
              <a:ext cx="578292" cy="323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800"/>
              </a:lvl1pPr>
            </a:lstStyle>
            <a:p>
              <a:pPr/>
              <a:r>
                <a:t>SG Connection</a:t>
              </a:r>
            </a:p>
          </p:txBody>
        </p:sp>
      </p:grpSp>
      <p:grpSp>
        <p:nvGrpSpPr>
          <p:cNvPr id="116" name="Flowchart: Preparation 31"/>
          <p:cNvGrpSpPr/>
          <p:nvPr/>
        </p:nvGrpSpPr>
        <p:grpSpPr>
          <a:xfrm>
            <a:off x="1919422" y="1623203"/>
            <a:ext cx="1137387" cy="323017"/>
            <a:chOff x="0" y="0"/>
            <a:chExt cx="1137386" cy="323016"/>
          </a:xfrm>
        </p:grpSpPr>
        <p:sp>
          <p:nvSpPr>
            <p:cNvPr id="114" name="Shape"/>
            <p:cNvSpPr/>
            <p:nvPr/>
          </p:nvSpPr>
          <p:spPr>
            <a:xfrm>
              <a:off x="0" y="38362"/>
              <a:ext cx="1137387" cy="246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320" y="0"/>
                  </a:lnTo>
                  <a:lnTo>
                    <a:pt x="17280" y="0"/>
                  </a:lnTo>
                  <a:lnTo>
                    <a:pt x="21600" y="10800"/>
                  </a:lnTo>
                  <a:lnTo>
                    <a:pt x="17280" y="21600"/>
                  </a:lnTo>
                  <a:lnTo>
                    <a:pt x="432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15" name="Script…"/>
            <p:cNvSpPr txBox="1"/>
            <p:nvPr/>
          </p:nvSpPr>
          <p:spPr>
            <a:xfrm>
              <a:off x="279547" y="0"/>
              <a:ext cx="578292" cy="323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800"/>
              </a:pPr>
              <a:r>
                <a:t>Script</a:t>
              </a:r>
            </a:p>
            <a:p>
              <a:pPr algn="ctr">
                <a:defRPr sz="800"/>
              </a:pPr>
              <a:r>
                <a:t>Credentials</a:t>
              </a:r>
            </a:p>
          </p:txBody>
        </p:sp>
      </p:grpSp>
      <p:grpSp>
        <p:nvGrpSpPr>
          <p:cNvPr id="119" name="Flowchart: Preparation 32"/>
          <p:cNvGrpSpPr/>
          <p:nvPr/>
        </p:nvGrpSpPr>
        <p:grpSpPr>
          <a:xfrm>
            <a:off x="1919422" y="1909565"/>
            <a:ext cx="1137387" cy="323017"/>
            <a:chOff x="0" y="0"/>
            <a:chExt cx="1137386" cy="323016"/>
          </a:xfrm>
        </p:grpSpPr>
        <p:sp>
          <p:nvSpPr>
            <p:cNvPr id="117" name="Shape"/>
            <p:cNvSpPr/>
            <p:nvPr/>
          </p:nvSpPr>
          <p:spPr>
            <a:xfrm>
              <a:off x="0" y="38362"/>
              <a:ext cx="1137387" cy="246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320" y="0"/>
                  </a:lnTo>
                  <a:lnTo>
                    <a:pt x="17280" y="0"/>
                  </a:lnTo>
                  <a:lnTo>
                    <a:pt x="21600" y="10800"/>
                  </a:lnTo>
                  <a:lnTo>
                    <a:pt x="17280" y="21600"/>
                  </a:lnTo>
                  <a:lnTo>
                    <a:pt x="432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18" name="User…"/>
            <p:cNvSpPr txBox="1"/>
            <p:nvPr/>
          </p:nvSpPr>
          <p:spPr>
            <a:xfrm>
              <a:off x="279547" y="0"/>
              <a:ext cx="578292" cy="323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800"/>
              </a:pPr>
              <a:r>
                <a:t>User</a:t>
              </a:r>
            </a:p>
            <a:p>
              <a:pPr algn="ctr">
                <a:defRPr sz="800"/>
              </a:pPr>
              <a:r>
                <a:t>Credentials</a:t>
              </a:r>
            </a:p>
          </p:txBody>
        </p:sp>
      </p:grpSp>
      <p:grpSp>
        <p:nvGrpSpPr>
          <p:cNvPr id="122" name="Flowchart: Document 37"/>
          <p:cNvGrpSpPr/>
          <p:nvPr/>
        </p:nvGrpSpPr>
        <p:grpSpPr>
          <a:xfrm>
            <a:off x="3746972" y="1679436"/>
            <a:ext cx="482405" cy="397967"/>
            <a:chOff x="0" y="0"/>
            <a:chExt cx="482403" cy="397966"/>
          </a:xfrm>
        </p:grpSpPr>
        <p:sp>
          <p:nvSpPr>
            <p:cNvPr id="120" name="Shape"/>
            <p:cNvSpPr/>
            <p:nvPr/>
          </p:nvSpPr>
          <p:spPr>
            <a:xfrm>
              <a:off x="0" y="0"/>
              <a:ext cx="482405" cy="397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255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5641"/>
                  </a:lnTo>
                  <a:cubicBezTo>
                    <a:pt x="10800" y="15641"/>
                    <a:pt x="10800" y="21600"/>
                    <a:pt x="0" y="1821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21" name="JSON"/>
            <p:cNvSpPr txBox="1"/>
            <p:nvPr/>
          </p:nvSpPr>
          <p:spPr>
            <a:xfrm>
              <a:off x="52069" y="63625"/>
              <a:ext cx="378265" cy="196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800"/>
              </a:lvl1pPr>
            </a:lstStyle>
            <a:p>
              <a:pPr/>
              <a:r>
                <a:t>JSON</a:t>
              </a:r>
            </a:p>
          </p:txBody>
        </p:sp>
      </p:grpSp>
      <p:sp>
        <p:nvSpPr>
          <p:cNvPr id="278" name="Connector: Elbow 55"/>
          <p:cNvSpPr/>
          <p:nvPr/>
        </p:nvSpPr>
        <p:spPr>
          <a:xfrm>
            <a:off x="3703320" y="2051050"/>
            <a:ext cx="825500" cy="466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26" name="Flowchart: Process 60"/>
          <p:cNvGrpSpPr/>
          <p:nvPr/>
        </p:nvGrpSpPr>
        <p:grpSpPr>
          <a:xfrm>
            <a:off x="2498281" y="4108806"/>
            <a:ext cx="1115252" cy="306563"/>
            <a:chOff x="0" y="0"/>
            <a:chExt cx="1115251" cy="306562"/>
          </a:xfrm>
        </p:grpSpPr>
        <p:sp>
          <p:nvSpPr>
            <p:cNvPr id="124" name="Rectangle"/>
            <p:cNvSpPr/>
            <p:nvPr/>
          </p:nvSpPr>
          <p:spPr>
            <a:xfrm>
              <a:off x="-1" y="-1"/>
              <a:ext cx="1115253" cy="306564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5" name="Base.metadata"/>
            <p:cNvSpPr txBox="1"/>
            <p:nvPr/>
          </p:nvSpPr>
          <p:spPr>
            <a:xfrm>
              <a:off x="52069" y="39025"/>
              <a:ext cx="1011113" cy="228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Base.metadata</a:t>
              </a:r>
            </a:p>
          </p:txBody>
        </p:sp>
      </p:grpSp>
      <p:grpSp>
        <p:nvGrpSpPr>
          <p:cNvPr id="131" name="Flowchart: Predefined Process 61"/>
          <p:cNvGrpSpPr/>
          <p:nvPr/>
        </p:nvGrpSpPr>
        <p:grpSpPr>
          <a:xfrm>
            <a:off x="2415825" y="4851820"/>
            <a:ext cx="1280162" cy="438806"/>
            <a:chOff x="0" y="0"/>
            <a:chExt cx="1280160" cy="438804"/>
          </a:xfrm>
        </p:grpSpPr>
        <p:grpSp>
          <p:nvGrpSpPr>
            <p:cNvPr id="129" name="Group"/>
            <p:cNvGrpSpPr/>
            <p:nvPr/>
          </p:nvGrpSpPr>
          <p:grpSpPr>
            <a:xfrm>
              <a:off x="-1" y="21282"/>
              <a:ext cx="1280162" cy="396241"/>
              <a:chOff x="0" y="0"/>
              <a:chExt cx="1280160" cy="396240"/>
            </a:xfrm>
          </p:grpSpPr>
          <p:sp>
            <p:nvSpPr>
              <p:cNvPr id="127" name="Rectangle"/>
              <p:cNvSpPr/>
              <p:nvPr/>
            </p:nvSpPr>
            <p:spPr>
              <a:xfrm>
                <a:off x="-1" y="-1"/>
                <a:ext cx="1280162" cy="396242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28" name="Shape"/>
              <p:cNvSpPr/>
              <p:nvPr/>
            </p:nvSpPr>
            <p:spPr>
              <a:xfrm>
                <a:off x="-1" y="-1"/>
                <a:ext cx="1280161" cy="3962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D305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30" name="SQLAlchemyAlembic"/>
            <p:cNvSpPr txBox="1"/>
            <p:nvPr/>
          </p:nvSpPr>
          <p:spPr>
            <a:xfrm>
              <a:off x="212090" y="0"/>
              <a:ext cx="855981" cy="4388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SQLAlchemyAlembic</a:t>
              </a:r>
            </a:p>
          </p:txBody>
        </p:sp>
      </p:grpSp>
      <p:grpSp>
        <p:nvGrpSpPr>
          <p:cNvPr id="136" name="Flowchart: Predefined Process 62"/>
          <p:cNvGrpSpPr/>
          <p:nvPr/>
        </p:nvGrpSpPr>
        <p:grpSpPr>
          <a:xfrm>
            <a:off x="497350" y="2287786"/>
            <a:ext cx="1280162" cy="438806"/>
            <a:chOff x="0" y="0"/>
            <a:chExt cx="1280160" cy="438804"/>
          </a:xfrm>
        </p:grpSpPr>
        <p:grpSp>
          <p:nvGrpSpPr>
            <p:cNvPr id="134" name="Group"/>
            <p:cNvGrpSpPr/>
            <p:nvPr/>
          </p:nvGrpSpPr>
          <p:grpSpPr>
            <a:xfrm>
              <a:off x="-1" y="21282"/>
              <a:ext cx="1280162" cy="396241"/>
              <a:chOff x="0" y="0"/>
              <a:chExt cx="1280160" cy="396240"/>
            </a:xfrm>
          </p:grpSpPr>
          <p:sp>
            <p:nvSpPr>
              <p:cNvPr id="132" name="Rectangle"/>
              <p:cNvSpPr/>
              <p:nvPr/>
            </p:nvSpPr>
            <p:spPr>
              <a:xfrm>
                <a:off x="-1" y="-1"/>
                <a:ext cx="1280162" cy="396242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3" name="Shape"/>
              <p:cNvSpPr/>
              <p:nvPr/>
            </p:nvSpPr>
            <p:spPr>
              <a:xfrm>
                <a:off x="-1" y="-1"/>
                <a:ext cx="1280161" cy="3962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D305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35" name="SQLAlchemy"/>
            <p:cNvSpPr txBox="1"/>
            <p:nvPr/>
          </p:nvSpPr>
          <p:spPr>
            <a:xfrm>
              <a:off x="212090" y="0"/>
              <a:ext cx="855981" cy="4388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SQLAlchemy</a:t>
              </a:r>
            </a:p>
          </p:txBody>
        </p:sp>
      </p:grpSp>
      <p:sp>
        <p:nvSpPr>
          <p:cNvPr id="279" name="Straight Arrow Connector 64"/>
          <p:cNvSpPr/>
          <p:nvPr/>
        </p:nvSpPr>
        <p:spPr>
          <a:xfrm>
            <a:off x="1784019" y="2510643"/>
            <a:ext cx="626361" cy="33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40" name="Flowchart: Document 73"/>
          <p:cNvGrpSpPr/>
          <p:nvPr/>
        </p:nvGrpSpPr>
        <p:grpSpPr>
          <a:xfrm>
            <a:off x="7458379" y="3207690"/>
            <a:ext cx="749916" cy="386647"/>
            <a:chOff x="0" y="0"/>
            <a:chExt cx="749915" cy="386646"/>
          </a:xfrm>
        </p:grpSpPr>
        <p:sp>
          <p:nvSpPr>
            <p:cNvPr id="138" name="Shape"/>
            <p:cNvSpPr/>
            <p:nvPr/>
          </p:nvSpPr>
          <p:spPr>
            <a:xfrm>
              <a:off x="0" y="0"/>
              <a:ext cx="749916" cy="386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255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5641"/>
                  </a:lnTo>
                  <a:cubicBezTo>
                    <a:pt x="10800" y="15641"/>
                    <a:pt x="10800" y="21600"/>
                    <a:pt x="0" y="1821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39" name="sgmodel.py"/>
            <p:cNvSpPr txBox="1"/>
            <p:nvPr/>
          </p:nvSpPr>
          <p:spPr>
            <a:xfrm>
              <a:off x="52069" y="59027"/>
              <a:ext cx="645777" cy="1960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800"/>
              </a:lvl1pPr>
            </a:lstStyle>
            <a:p>
              <a:pPr/>
              <a:r>
                <a:t>sgmodel.py</a:t>
              </a:r>
            </a:p>
          </p:txBody>
        </p:sp>
      </p:grpSp>
      <p:sp>
        <p:nvSpPr>
          <p:cNvPr id="280" name="Straight Arrow Connector 75"/>
          <p:cNvSpPr/>
          <p:nvPr/>
        </p:nvSpPr>
        <p:spPr>
          <a:xfrm>
            <a:off x="6195215" y="3400398"/>
            <a:ext cx="1256815" cy="4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44" name="Flowchart: Process 88"/>
          <p:cNvGrpSpPr/>
          <p:nvPr/>
        </p:nvGrpSpPr>
        <p:grpSpPr>
          <a:xfrm>
            <a:off x="4081855" y="2663986"/>
            <a:ext cx="2113306" cy="539787"/>
            <a:chOff x="0" y="0"/>
            <a:chExt cx="2113304" cy="539785"/>
          </a:xfrm>
        </p:grpSpPr>
        <p:sp>
          <p:nvSpPr>
            <p:cNvPr id="142" name="Rectangle"/>
            <p:cNvSpPr/>
            <p:nvPr/>
          </p:nvSpPr>
          <p:spPr>
            <a:xfrm>
              <a:off x="0" y="0"/>
              <a:ext cx="2113305" cy="539786"/>
            </a:xfrm>
            <a:prstGeom prst="rect">
              <a:avLst/>
            </a:prstGeom>
            <a:gradFill flip="none" rotWithShape="1">
              <a:gsLst>
                <a:gs pos="0">
                  <a:srgbClr val="474747"/>
                </a:gs>
                <a:gs pos="50000">
                  <a:srgbClr val="000000"/>
                </a:gs>
                <a:gs pos="100000">
                  <a:srgbClr val="000000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sx="100000" sy="100000" kx="0" ky="0" algn="b" rotWithShape="0" blurRad="63500" dist="19050" dir="5400000">
                <a:srgbClr val="000000">
                  <a:alpha val="6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43" name="EntityClass = sg_orm[“EntityType”]…"/>
            <p:cNvSpPr txBox="1"/>
            <p:nvPr/>
          </p:nvSpPr>
          <p:spPr>
            <a:xfrm>
              <a:off x="45720" y="20972"/>
              <a:ext cx="2021865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EntityClass = sg_orm[“EntityType”]</a:t>
              </a:r>
            </a:p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Asset = sg_orm[“Asset”]</a:t>
              </a:r>
            </a:p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Shot = sg_orm[“Shot”]</a:t>
              </a:r>
            </a:p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:</a:t>
              </a:r>
            </a:p>
          </p:txBody>
        </p:sp>
      </p:grpSp>
      <p:grpSp>
        <p:nvGrpSpPr>
          <p:cNvPr id="147" name="Flowchart: Process 96"/>
          <p:cNvGrpSpPr/>
          <p:nvPr/>
        </p:nvGrpSpPr>
        <p:grpSpPr>
          <a:xfrm>
            <a:off x="4110551" y="3924332"/>
            <a:ext cx="3141456" cy="662795"/>
            <a:chOff x="0" y="0"/>
            <a:chExt cx="3141455" cy="662794"/>
          </a:xfrm>
        </p:grpSpPr>
        <p:sp>
          <p:nvSpPr>
            <p:cNvPr id="145" name="Rectangle"/>
            <p:cNvSpPr/>
            <p:nvPr/>
          </p:nvSpPr>
          <p:spPr>
            <a:xfrm>
              <a:off x="-1" y="-1"/>
              <a:ext cx="3141457" cy="662796"/>
            </a:xfrm>
            <a:prstGeom prst="rect">
              <a:avLst/>
            </a:prstGeom>
            <a:gradFill flip="none" rotWithShape="1">
              <a:gsLst>
                <a:gs pos="0">
                  <a:srgbClr val="474747"/>
                </a:gs>
                <a:gs pos="50000">
                  <a:srgbClr val="000000"/>
                </a:gs>
                <a:gs pos="100000">
                  <a:srgbClr val="000000"/>
                </a:gs>
              </a:gsLst>
              <a:lin ang="5400000" scaled="0"/>
            </a:gradFill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6" name="engine = create_engine(“sqlite+pysqlite:///test.db”)…"/>
            <p:cNvSpPr txBox="1"/>
            <p:nvPr/>
          </p:nvSpPr>
          <p:spPr>
            <a:xfrm>
              <a:off x="50589" y="73850"/>
              <a:ext cx="3040277" cy="5150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engine = create_engine(“sqlite+pysqlite:///test.db”)</a:t>
              </a:r>
            </a:p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# </a:t>
              </a:r>
              <a:r>
                <a:t>sg_orm.Base.metadata.drop_all(bind=engine) # caution!</a:t>
              </a:r>
            </a:p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sg_orm.Base.metadata.create_all(engine)</a:t>
              </a:r>
            </a:p>
          </p:txBody>
        </p:sp>
      </p:grpSp>
      <p:grpSp>
        <p:nvGrpSpPr>
          <p:cNvPr id="150" name="Flowchart: Process 97"/>
          <p:cNvGrpSpPr/>
          <p:nvPr/>
        </p:nvGrpSpPr>
        <p:grpSpPr>
          <a:xfrm>
            <a:off x="4081855" y="3247817"/>
            <a:ext cx="2113310" cy="304372"/>
            <a:chOff x="0" y="0"/>
            <a:chExt cx="2113308" cy="304371"/>
          </a:xfrm>
        </p:grpSpPr>
        <p:sp>
          <p:nvSpPr>
            <p:cNvPr id="148" name="Rectangle"/>
            <p:cNvSpPr/>
            <p:nvPr/>
          </p:nvSpPr>
          <p:spPr>
            <a:xfrm>
              <a:off x="0" y="-1"/>
              <a:ext cx="2113309" cy="304373"/>
            </a:xfrm>
            <a:prstGeom prst="rect">
              <a:avLst/>
            </a:prstGeom>
            <a:gradFill flip="none" rotWithShape="1">
              <a:gsLst>
                <a:gs pos="0">
                  <a:srgbClr val="474747"/>
                </a:gs>
                <a:gs pos="50000">
                  <a:srgbClr val="000000"/>
                </a:gs>
                <a:gs pos="100000">
                  <a:srgbClr val="000000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sx="100000" sy="100000" kx="0" ky="0" algn="b" rotWithShape="0" blurRad="63500" dist="19050" dir="5400000">
                <a:srgbClr val="000000">
                  <a:alpha val="6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sg_orm.create_script(“sgmodel.py”)"/>
            <p:cNvSpPr txBox="1"/>
            <p:nvPr/>
          </p:nvSpPr>
          <p:spPr>
            <a:xfrm>
              <a:off x="45720" y="55665"/>
              <a:ext cx="2021869" cy="193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sg_orm.create_script</a:t>
              </a:r>
              <a:r>
                <a:t>(“</a:t>
              </a:r>
              <a:r>
                <a:t>sgmodel.py</a:t>
              </a:r>
              <a:r>
                <a:t>”)</a:t>
              </a:r>
            </a:p>
          </p:txBody>
        </p:sp>
      </p:grpSp>
      <p:grpSp>
        <p:nvGrpSpPr>
          <p:cNvPr id="153" name="Flowchart: Process 105"/>
          <p:cNvGrpSpPr/>
          <p:nvPr/>
        </p:nvGrpSpPr>
        <p:grpSpPr>
          <a:xfrm>
            <a:off x="2450408" y="3261031"/>
            <a:ext cx="1210995" cy="281449"/>
            <a:chOff x="0" y="0"/>
            <a:chExt cx="1210994" cy="281448"/>
          </a:xfrm>
        </p:grpSpPr>
        <p:sp>
          <p:nvSpPr>
            <p:cNvPr id="151" name="Rectangle"/>
            <p:cNvSpPr/>
            <p:nvPr/>
          </p:nvSpPr>
          <p:spPr>
            <a:xfrm>
              <a:off x="-1" y="-1"/>
              <a:ext cx="1210996" cy="281450"/>
            </a:xfrm>
            <a:prstGeom prst="rect">
              <a:avLst/>
            </a:prstGeom>
            <a:gradFill flip="none" rotWithShape="1">
              <a:gsLst>
                <a:gs pos="0">
                  <a:srgbClr val="474747"/>
                </a:gs>
                <a:gs pos="50000">
                  <a:srgbClr val="000000"/>
                </a:gs>
                <a:gs pos="100000">
                  <a:srgbClr val="000000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sx="100000" sy="100000" kx="0" ky="0" algn="b" rotWithShape="0" blurRad="63500" dist="19050" dir="5400000">
                <a:srgbClr val="000000">
                  <a:alpha val="6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52" name="sg_orm = SGORM(...)"/>
            <p:cNvSpPr txBox="1"/>
            <p:nvPr/>
          </p:nvSpPr>
          <p:spPr>
            <a:xfrm>
              <a:off x="45719" y="44204"/>
              <a:ext cx="1119556" cy="193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sg_orm = SGORM(...)</a:t>
              </a:r>
            </a:p>
          </p:txBody>
        </p:sp>
      </p:grpSp>
      <p:sp>
        <p:nvSpPr>
          <p:cNvPr id="281" name="Straight Arrow Connector 107"/>
          <p:cNvSpPr/>
          <p:nvPr/>
        </p:nvSpPr>
        <p:spPr>
          <a:xfrm>
            <a:off x="3056049" y="2721756"/>
            <a:ext cx="552" cy="5392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82" name="Straight Arrow Connector 118"/>
          <p:cNvSpPr/>
          <p:nvPr/>
        </p:nvSpPr>
        <p:spPr>
          <a:xfrm>
            <a:off x="3055906" y="3542416"/>
            <a:ext cx="1" cy="5600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83" name="Straight Arrow Connector 137"/>
          <p:cNvSpPr/>
          <p:nvPr/>
        </p:nvSpPr>
        <p:spPr>
          <a:xfrm>
            <a:off x="3619849" y="4259541"/>
            <a:ext cx="487528" cy="11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61" name="Flowchart: Magnetic Disk 139"/>
          <p:cNvGrpSpPr/>
          <p:nvPr/>
        </p:nvGrpSpPr>
        <p:grpSpPr>
          <a:xfrm>
            <a:off x="7537346" y="3880318"/>
            <a:ext cx="591983" cy="750821"/>
            <a:chOff x="0" y="0"/>
            <a:chExt cx="591981" cy="750820"/>
          </a:xfrm>
        </p:grpSpPr>
        <p:grpSp>
          <p:nvGrpSpPr>
            <p:cNvPr id="159" name="Group"/>
            <p:cNvGrpSpPr/>
            <p:nvPr/>
          </p:nvGrpSpPr>
          <p:grpSpPr>
            <a:xfrm>
              <a:off x="0" y="-1"/>
              <a:ext cx="591983" cy="750822"/>
              <a:chOff x="0" y="0"/>
              <a:chExt cx="591981" cy="750820"/>
            </a:xfrm>
          </p:grpSpPr>
          <p:sp>
            <p:nvSpPr>
              <p:cNvPr id="157" name="Shape"/>
              <p:cNvSpPr/>
              <p:nvPr/>
            </p:nvSpPr>
            <p:spPr>
              <a:xfrm>
                <a:off x="0" y="-1"/>
                <a:ext cx="591983" cy="7508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3600"/>
                    </a:moveTo>
                    <a:cubicBezTo>
                      <a:pt x="0" y="1612"/>
                      <a:pt x="4835" y="0"/>
                      <a:pt x="10800" y="0"/>
                    </a:cubicBezTo>
                    <a:cubicBezTo>
                      <a:pt x="16765" y="0"/>
                      <a:pt x="21600" y="1612"/>
                      <a:pt x="21600" y="3600"/>
                    </a:cubicBezTo>
                    <a:lnTo>
                      <a:pt x="21600" y="18000"/>
                    </a:lnTo>
                    <a:cubicBezTo>
                      <a:pt x="21600" y="19988"/>
                      <a:pt x="16765" y="21600"/>
                      <a:pt x="10800" y="21600"/>
                    </a:cubicBezTo>
                    <a:cubicBezTo>
                      <a:pt x="4835" y="21600"/>
                      <a:pt x="0" y="19988"/>
                      <a:pt x="0" y="18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8" name="Shape"/>
              <p:cNvSpPr/>
              <p:nvPr/>
            </p:nvSpPr>
            <p:spPr>
              <a:xfrm>
                <a:off x="0" y="-1"/>
                <a:ext cx="591983" cy="7508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3600"/>
                    </a:moveTo>
                    <a:cubicBezTo>
                      <a:pt x="21600" y="5588"/>
                      <a:pt x="16765" y="7200"/>
                      <a:pt x="10800" y="7200"/>
                    </a:cubicBezTo>
                    <a:cubicBezTo>
                      <a:pt x="4835" y="7200"/>
                      <a:pt x="0" y="5588"/>
                      <a:pt x="0" y="3600"/>
                    </a:cubicBezTo>
                    <a:moveTo>
                      <a:pt x="0" y="3600"/>
                    </a:moveTo>
                    <a:cubicBezTo>
                      <a:pt x="0" y="1612"/>
                      <a:pt x="4835" y="0"/>
                      <a:pt x="10800" y="0"/>
                    </a:cubicBezTo>
                    <a:cubicBezTo>
                      <a:pt x="16765" y="0"/>
                      <a:pt x="21600" y="1612"/>
                      <a:pt x="21600" y="3600"/>
                    </a:cubicBezTo>
                    <a:lnTo>
                      <a:pt x="21600" y="18000"/>
                    </a:lnTo>
                    <a:cubicBezTo>
                      <a:pt x="21600" y="19988"/>
                      <a:pt x="16765" y="21600"/>
                      <a:pt x="10800" y="21600"/>
                    </a:cubicBezTo>
                    <a:cubicBezTo>
                      <a:pt x="4835" y="21600"/>
                      <a:pt x="0" y="19988"/>
                      <a:pt x="0" y="1800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1D305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60" name="DB"/>
            <p:cNvSpPr txBox="1"/>
            <p:nvPr/>
          </p:nvSpPr>
          <p:spPr>
            <a:xfrm>
              <a:off x="52070" y="271434"/>
              <a:ext cx="48784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DB</a:t>
              </a:r>
            </a:p>
          </p:txBody>
        </p:sp>
      </p:grpSp>
      <p:sp>
        <p:nvSpPr>
          <p:cNvPr id="284" name="Straight Arrow Connector 141"/>
          <p:cNvSpPr/>
          <p:nvPr/>
        </p:nvSpPr>
        <p:spPr>
          <a:xfrm>
            <a:off x="7254992" y="4255729"/>
            <a:ext cx="276005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67" name="Flowchart: Predefined Process 146"/>
          <p:cNvGrpSpPr/>
          <p:nvPr/>
        </p:nvGrpSpPr>
        <p:grpSpPr>
          <a:xfrm>
            <a:off x="8749756" y="649599"/>
            <a:ext cx="1719212" cy="438806"/>
            <a:chOff x="0" y="0"/>
            <a:chExt cx="1719210" cy="438804"/>
          </a:xfrm>
        </p:grpSpPr>
        <p:grpSp>
          <p:nvGrpSpPr>
            <p:cNvPr id="165" name="Group"/>
            <p:cNvGrpSpPr/>
            <p:nvPr/>
          </p:nvGrpSpPr>
          <p:grpSpPr>
            <a:xfrm>
              <a:off x="0" y="1581"/>
              <a:ext cx="1719211" cy="435643"/>
              <a:chOff x="0" y="0"/>
              <a:chExt cx="1719210" cy="435642"/>
            </a:xfrm>
          </p:grpSpPr>
          <p:sp>
            <p:nvSpPr>
              <p:cNvPr id="163" name="Rectangle"/>
              <p:cNvSpPr/>
              <p:nvPr/>
            </p:nvSpPr>
            <p:spPr>
              <a:xfrm>
                <a:off x="0" y="-1"/>
                <a:ext cx="1719211" cy="435644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hueOff val="198858"/>
                      <a:satOff val="-2084"/>
                      <a:lumOff val="20614"/>
                    </a:schemeClr>
                  </a:gs>
                  <a:gs pos="50000">
                    <a:srgbClr val="A1C1E5"/>
                  </a:gs>
                  <a:gs pos="100000">
                    <a:schemeClr val="accent5">
                      <a:hueOff val="173799"/>
                      <a:satOff val="1446"/>
                      <a:lumOff val="13545"/>
                    </a:schemeClr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/>
                </a:pPr>
              </a:p>
            </p:txBody>
          </p:sp>
          <p:sp>
            <p:nvSpPr>
              <p:cNvPr id="164" name="Shape"/>
              <p:cNvSpPr/>
              <p:nvPr/>
            </p:nvSpPr>
            <p:spPr>
              <a:xfrm>
                <a:off x="0" y="-1"/>
                <a:ext cx="1719212" cy="4356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/>
                </a:pPr>
              </a:p>
            </p:txBody>
          </p:sp>
        </p:grpSp>
        <p:sp>
          <p:nvSpPr>
            <p:cNvPr id="166" name="SG Events Framework"/>
            <p:cNvSpPr txBox="1"/>
            <p:nvPr/>
          </p:nvSpPr>
          <p:spPr>
            <a:xfrm>
              <a:off x="263795" y="0"/>
              <a:ext cx="1191620" cy="4388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200"/>
              </a:lvl1pPr>
            </a:lstStyle>
            <a:p>
              <a:pPr/>
              <a:r>
                <a:t>SG Events Framework</a:t>
              </a:r>
            </a:p>
          </p:txBody>
        </p:sp>
      </p:grpSp>
      <p:sp>
        <p:nvSpPr>
          <p:cNvPr id="285" name="Connector: Elbow 148"/>
          <p:cNvSpPr/>
          <p:nvPr/>
        </p:nvSpPr>
        <p:spPr>
          <a:xfrm>
            <a:off x="4343400" y="862330"/>
            <a:ext cx="4403090" cy="63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791" y="0"/>
                </a:lnTo>
                <a:lnTo>
                  <a:pt x="10791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86" name="Straight Arrow Connector 150"/>
          <p:cNvSpPr/>
          <p:nvPr/>
        </p:nvSpPr>
        <p:spPr>
          <a:xfrm>
            <a:off x="9609362" y="1090130"/>
            <a:ext cx="1" cy="1968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87" name="Straight Arrow Connector 157"/>
          <p:cNvSpPr/>
          <p:nvPr/>
        </p:nvSpPr>
        <p:spPr>
          <a:xfrm>
            <a:off x="7833337" y="3579456"/>
            <a:ext cx="1" cy="294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88" name="Straight Arrow Connector 161"/>
          <p:cNvSpPr/>
          <p:nvPr/>
        </p:nvSpPr>
        <p:spPr>
          <a:xfrm>
            <a:off x="3055906" y="4421544"/>
            <a:ext cx="1" cy="4302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89" name="Connector: Elbow 164"/>
          <p:cNvSpPr/>
          <p:nvPr/>
        </p:nvSpPr>
        <p:spPr>
          <a:xfrm>
            <a:off x="3702050" y="4636770"/>
            <a:ext cx="4130040" cy="434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75" name="Flowchart: Process 170"/>
          <p:cNvGrpSpPr/>
          <p:nvPr/>
        </p:nvGrpSpPr>
        <p:grpSpPr>
          <a:xfrm>
            <a:off x="2078078" y="5580153"/>
            <a:ext cx="1955653" cy="334879"/>
            <a:chOff x="0" y="0"/>
            <a:chExt cx="1955651" cy="334878"/>
          </a:xfrm>
        </p:grpSpPr>
        <p:sp>
          <p:nvSpPr>
            <p:cNvPr id="173" name="Rectangle"/>
            <p:cNvSpPr/>
            <p:nvPr/>
          </p:nvSpPr>
          <p:spPr>
            <a:xfrm>
              <a:off x="0" y="-1"/>
              <a:ext cx="1955652" cy="334880"/>
            </a:xfrm>
            <a:prstGeom prst="rect">
              <a:avLst/>
            </a:prstGeom>
            <a:gradFill flip="none" rotWithShape="1">
              <a:gsLst>
                <a:gs pos="0">
                  <a:srgbClr val="474747"/>
                </a:gs>
                <a:gs pos="50000">
                  <a:srgbClr val="000000"/>
                </a:gs>
                <a:gs pos="100000">
                  <a:srgbClr val="000000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sx="100000" sy="100000" kx="0" ky="0" algn="b" rotWithShape="0" blurRad="63500" dist="19050" dir="5400000">
                <a:srgbClr val="000000">
                  <a:alpha val="6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4" name="alembic revision --autogenerate"/>
            <p:cNvSpPr txBox="1"/>
            <p:nvPr/>
          </p:nvSpPr>
          <p:spPr>
            <a:xfrm>
              <a:off x="45720" y="70918"/>
              <a:ext cx="1864212" cy="193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alembic revision --autogenerate</a:t>
              </a:r>
            </a:p>
          </p:txBody>
        </p:sp>
      </p:grpSp>
      <p:sp>
        <p:nvSpPr>
          <p:cNvPr id="176" name="Connector: Elbow 174"/>
          <p:cNvSpPr/>
          <p:nvPr/>
        </p:nvSpPr>
        <p:spPr>
          <a:xfrm flipV="1">
            <a:off x="7331057" y="4644235"/>
            <a:ext cx="496809" cy="11033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grpSp>
        <p:nvGrpSpPr>
          <p:cNvPr id="181" name="Flowchart: Predefined Process 177"/>
          <p:cNvGrpSpPr/>
          <p:nvPr/>
        </p:nvGrpSpPr>
        <p:grpSpPr>
          <a:xfrm>
            <a:off x="497350" y="3181805"/>
            <a:ext cx="1280162" cy="438806"/>
            <a:chOff x="0" y="0"/>
            <a:chExt cx="1280160" cy="438804"/>
          </a:xfrm>
        </p:grpSpPr>
        <p:grpSp>
          <p:nvGrpSpPr>
            <p:cNvPr id="179" name="Group"/>
            <p:cNvGrpSpPr/>
            <p:nvPr/>
          </p:nvGrpSpPr>
          <p:grpSpPr>
            <a:xfrm>
              <a:off x="-1" y="21282"/>
              <a:ext cx="1280162" cy="396241"/>
              <a:chOff x="0" y="0"/>
              <a:chExt cx="1280160" cy="396240"/>
            </a:xfrm>
          </p:grpSpPr>
          <p:sp>
            <p:nvSpPr>
              <p:cNvPr id="177" name="Rectangle"/>
              <p:cNvSpPr/>
              <p:nvPr/>
            </p:nvSpPr>
            <p:spPr>
              <a:xfrm>
                <a:off x="-1" y="-1"/>
                <a:ext cx="1280162" cy="39624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hueOff val="198858"/>
                      <a:satOff val="-2084"/>
                      <a:lumOff val="20614"/>
                    </a:schemeClr>
                  </a:gs>
                  <a:gs pos="50000">
                    <a:srgbClr val="A1C1E5"/>
                  </a:gs>
                  <a:gs pos="100000">
                    <a:schemeClr val="accent5">
                      <a:hueOff val="173799"/>
                      <a:satOff val="1446"/>
                      <a:lumOff val="13545"/>
                    </a:schemeClr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/>
                </a:pPr>
              </a:p>
            </p:txBody>
          </p:sp>
          <p:sp>
            <p:nvSpPr>
              <p:cNvPr id="178" name="Shape"/>
              <p:cNvSpPr/>
              <p:nvPr/>
            </p:nvSpPr>
            <p:spPr>
              <a:xfrm>
                <a:off x="-1" y="-1"/>
                <a:ext cx="1280161" cy="3962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/>
                </a:pPr>
              </a:p>
            </p:txBody>
          </p:sp>
        </p:grpSp>
        <p:sp>
          <p:nvSpPr>
            <p:cNvPr id="180" name="Scheduler (cron)"/>
            <p:cNvSpPr txBox="1"/>
            <p:nvPr/>
          </p:nvSpPr>
          <p:spPr>
            <a:xfrm>
              <a:off x="208915" y="0"/>
              <a:ext cx="862331" cy="4388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200"/>
              </a:pPr>
              <a:r>
                <a:t>Scheduler</a:t>
              </a:r>
              <a:br/>
              <a:r>
                <a:t>(cron)</a:t>
              </a:r>
            </a:p>
          </p:txBody>
        </p:sp>
      </p:grpSp>
      <p:sp>
        <p:nvSpPr>
          <p:cNvPr id="290" name="Straight Arrow Connector 184"/>
          <p:cNvSpPr/>
          <p:nvPr/>
        </p:nvSpPr>
        <p:spPr>
          <a:xfrm>
            <a:off x="1780844" y="3401391"/>
            <a:ext cx="669565" cy="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91" name="Straight Arrow Connector 197"/>
          <p:cNvSpPr/>
          <p:nvPr/>
        </p:nvSpPr>
        <p:spPr>
          <a:xfrm>
            <a:off x="3661274" y="3400892"/>
            <a:ext cx="420582" cy="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92" name="Connector: Elbow 213"/>
          <p:cNvSpPr/>
          <p:nvPr/>
        </p:nvSpPr>
        <p:spPr>
          <a:xfrm>
            <a:off x="3660140" y="2933700"/>
            <a:ext cx="421641" cy="467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3012" y="21600"/>
                </a:lnTo>
                <a:lnTo>
                  <a:pt x="13012" y="10800"/>
                </a:lnTo>
                <a:lnTo>
                  <a:pt x="8588" y="10800"/>
                </a:lnTo>
                <a:lnTo>
                  <a:pt x="8588" y="0"/>
                </a:lnTo>
                <a:lnTo>
                  <a:pt x="21600" y="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93" name="Straight Arrow Connector 229"/>
          <p:cNvSpPr/>
          <p:nvPr/>
        </p:nvSpPr>
        <p:spPr>
          <a:xfrm>
            <a:off x="3055905" y="5290764"/>
            <a:ext cx="1" cy="2893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90" name="Flowchart: Predefined Process 239"/>
          <p:cNvGrpSpPr/>
          <p:nvPr/>
        </p:nvGrpSpPr>
        <p:grpSpPr>
          <a:xfrm>
            <a:off x="8910308" y="2840620"/>
            <a:ext cx="1584300" cy="293767"/>
            <a:chOff x="0" y="0"/>
            <a:chExt cx="1584299" cy="293766"/>
          </a:xfrm>
        </p:grpSpPr>
        <p:grpSp>
          <p:nvGrpSpPr>
            <p:cNvPr id="188" name="Group"/>
            <p:cNvGrpSpPr/>
            <p:nvPr/>
          </p:nvGrpSpPr>
          <p:grpSpPr>
            <a:xfrm>
              <a:off x="-1" y="-1"/>
              <a:ext cx="1584301" cy="293768"/>
              <a:chOff x="0" y="0"/>
              <a:chExt cx="1584299" cy="293766"/>
            </a:xfrm>
          </p:grpSpPr>
          <p:sp>
            <p:nvSpPr>
              <p:cNvPr id="186" name="Rectangle"/>
              <p:cNvSpPr/>
              <p:nvPr/>
            </p:nvSpPr>
            <p:spPr>
              <a:xfrm>
                <a:off x="-1" y="-1"/>
                <a:ext cx="1584301" cy="29376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hueOff val="276588"/>
                      <a:satOff val="-4887"/>
                      <a:lumOff val="24576"/>
                    </a:schemeClr>
                  </a:gs>
                  <a:gs pos="50000">
                    <a:srgbClr val="98AAD9"/>
                  </a:gs>
                  <a:gs pos="100000">
                    <a:schemeClr val="accent1">
                      <a:hueOff val="258141"/>
                      <a:satOff val="-1314"/>
                      <a:lumOff val="16637"/>
                    </a:schemeClr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/>
                </a:pPr>
              </a:p>
            </p:txBody>
          </p:sp>
          <p:sp>
            <p:nvSpPr>
              <p:cNvPr id="187" name="Shape"/>
              <p:cNvSpPr/>
              <p:nvPr/>
            </p:nvSpPr>
            <p:spPr>
              <a:xfrm>
                <a:off x="-1" y="-1"/>
                <a:ext cx="1584301" cy="2937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/>
                </a:pPr>
              </a:p>
            </p:txBody>
          </p:sp>
        </p:grpSp>
        <p:sp>
          <p:nvSpPr>
            <p:cNvPr id="189" name="Microsoft PowerBI"/>
            <p:cNvSpPr txBox="1"/>
            <p:nvPr/>
          </p:nvSpPr>
          <p:spPr>
            <a:xfrm>
              <a:off x="246931" y="43926"/>
              <a:ext cx="1090437" cy="205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/>
              </a:lvl1pPr>
            </a:lstStyle>
            <a:p>
              <a:pPr/>
              <a:r>
                <a:t>Microsoft PowerBI</a:t>
              </a:r>
            </a:p>
          </p:txBody>
        </p:sp>
      </p:grpSp>
      <p:grpSp>
        <p:nvGrpSpPr>
          <p:cNvPr id="195" name="Flowchart: Predefined Process 240"/>
          <p:cNvGrpSpPr/>
          <p:nvPr/>
        </p:nvGrpSpPr>
        <p:grpSpPr>
          <a:xfrm>
            <a:off x="8922359" y="3180564"/>
            <a:ext cx="1572249" cy="295518"/>
            <a:chOff x="0" y="0"/>
            <a:chExt cx="1572248" cy="295517"/>
          </a:xfrm>
        </p:grpSpPr>
        <p:grpSp>
          <p:nvGrpSpPr>
            <p:cNvPr id="193" name="Group"/>
            <p:cNvGrpSpPr/>
            <p:nvPr/>
          </p:nvGrpSpPr>
          <p:grpSpPr>
            <a:xfrm>
              <a:off x="-1" y="-1"/>
              <a:ext cx="1572250" cy="295519"/>
              <a:chOff x="0" y="0"/>
              <a:chExt cx="1572248" cy="295517"/>
            </a:xfrm>
          </p:grpSpPr>
          <p:sp>
            <p:nvSpPr>
              <p:cNvPr id="191" name="Rectangle"/>
              <p:cNvSpPr/>
              <p:nvPr/>
            </p:nvSpPr>
            <p:spPr>
              <a:xfrm>
                <a:off x="-1" y="-1"/>
                <a:ext cx="1572250" cy="29551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hueOff val="276588"/>
                      <a:satOff val="-4887"/>
                      <a:lumOff val="24576"/>
                    </a:schemeClr>
                  </a:gs>
                  <a:gs pos="50000">
                    <a:srgbClr val="98AAD9"/>
                  </a:gs>
                  <a:gs pos="100000">
                    <a:schemeClr val="accent1">
                      <a:hueOff val="258141"/>
                      <a:satOff val="-1314"/>
                      <a:lumOff val="16637"/>
                    </a:schemeClr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/>
                </a:pPr>
              </a:p>
            </p:txBody>
          </p:sp>
          <p:sp>
            <p:nvSpPr>
              <p:cNvPr id="192" name="Shape"/>
              <p:cNvSpPr/>
              <p:nvPr/>
            </p:nvSpPr>
            <p:spPr>
              <a:xfrm>
                <a:off x="-1" y="-1"/>
                <a:ext cx="1572250" cy="2955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/>
                </a:pPr>
              </a:p>
            </p:txBody>
          </p:sp>
        </p:grpSp>
        <p:sp>
          <p:nvSpPr>
            <p:cNvPr id="194" name="Apache SuperSet"/>
            <p:cNvSpPr txBox="1"/>
            <p:nvPr/>
          </p:nvSpPr>
          <p:spPr>
            <a:xfrm>
              <a:off x="245426" y="44801"/>
              <a:ext cx="1081396" cy="205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/>
              </a:lvl1pPr>
            </a:lstStyle>
            <a:p>
              <a:pPr/>
              <a:r>
                <a:t>Apache SuperSet</a:t>
              </a:r>
            </a:p>
          </p:txBody>
        </p:sp>
      </p:grpSp>
      <p:sp>
        <p:nvSpPr>
          <p:cNvPr id="294" name="Connector: Elbow 246"/>
          <p:cNvSpPr/>
          <p:nvPr/>
        </p:nvSpPr>
        <p:spPr>
          <a:xfrm>
            <a:off x="8135620" y="3327400"/>
            <a:ext cx="782321" cy="927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3675" y="21600"/>
                </a:lnTo>
                <a:lnTo>
                  <a:pt x="13675" y="0"/>
                </a:lnTo>
                <a:lnTo>
                  <a:pt x="21600" y="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99" name="Flowchart: Process 262"/>
          <p:cNvGrpSpPr/>
          <p:nvPr/>
        </p:nvGrpSpPr>
        <p:grpSpPr>
          <a:xfrm>
            <a:off x="5989385" y="5598254"/>
            <a:ext cx="1341673" cy="298679"/>
            <a:chOff x="0" y="0"/>
            <a:chExt cx="1341671" cy="298677"/>
          </a:xfrm>
        </p:grpSpPr>
        <p:sp>
          <p:nvSpPr>
            <p:cNvPr id="197" name="Rectangle"/>
            <p:cNvSpPr/>
            <p:nvPr/>
          </p:nvSpPr>
          <p:spPr>
            <a:xfrm>
              <a:off x="0" y="0"/>
              <a:ext cx="1341672" cy="298678"/>
            </a:xfrm>
            <a:prstGeom prst="rect">
              <a:avLst/>
            </a:prstGeom>
            <a:gradFill flip="none" rotWithShape="1">
              <a:gsLst>
                <a:gs pos="0">
                  <a:srgbClr val="474747"/>
                </a:gs>
                <a:gs pos="50000">
                  <a:srgbClr val="000000"/>
                </a:gs>
                <a:gs pos="100000">
                  <a:srgbClr val="000000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sx="100000" sy="100000" kx="0" ky="0" algn="b" rotWithShape="0" blurRad="63500" dist="19050" dir="5400000">
                <a:srgbClr val="000000">
                  <a:alpha val="6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98" name="alembic –upgrade head"/>
            <p:cNvSpPr txBox="1"/>
            <p:nvPr/>
          </p:nvSpPr>
          <p:spPr>
            <a:xfrm>
              <a:off x="45720" y="52819"/>
              <a:ext cx="1250232" cy="193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7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alembic –upgrade head</a:t>
              </a:r>
            </a:p>
          </p:txBody>
        </p:sp>
      </p:grpSp>
      <p:grpSp>
        <p:nvGrpSpPr>
          <p:cNvPr id="202" name="Flowchart: Document 266"/>
          <p:cNvGrpSpPr/>
          <p:nvPr/>
        </p:nvGrpSpPr>
        <p:grpSpPr>
          <a:xfrm>
            <a:off x="4497611" y="5551773"/>
            <a:ext cx="1027893" cy="386648"/>
            <a:chOff x="0" y="0"/>
            <a:chExt cx="1027892" cy="386646"/>
          </a:xfrm>
        </p:grpSpPr>
        <p:sp>
          <p:nvSpPr>
            <p:cNvPr id="200" name="Shape"/>
            <p:cNvSpPr/>
            <p:nvPr/>
          </p:nvSpPr>
          <p:spPr>
            <a:xfrm>
              <a:off x="0" y="0"/>
              <a:ext cx="1027893" cy="386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255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5641"/>
                  </a:lnTo>
                  <a:cubicBezTo>
                    <a:pt x="10800" y="15641"/>
                    <a:pt x="10800" y="21600"/>
                    <a:pt x="0" y="1821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201" name="versions/xxxxxxx.py"/>
            <p:cNvSpPr txBox="1"/>
            <p:nvPr/>
          </p:nvSpPr>
          <p:spPr>
            <a:xfrm>
              <a:off x="52069" y="59027"/>
              <a:ext cx="923754" cy="1960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800"/>
              </a:lvl1pPr>
            </a:lstStyle>
            <a:p>
              <a:pPr/>
              <a:r>
                <a:t>versions/xxxxxxx.py</a:t>
              </a:r>
            </a:p>
          </p:txBody>
        </p:sp>
      </p:grpSp>
      <p:sp>
        <p:nvSpPr>
          <p:cNvPr id="295" name="Straight Arrow Connector 273"/>
          <p:cNvSpPr/>
          <p:nvPr/>
        </p:nvSpPr>
        <p:spPr>
          <a:xfrm>
            <a:off x="4033878" y="5745761"/>
            <a:ext cx="457384" cy="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96" name="Straight Arrow Connector 278"/>
          <p:cNvSpPr/>
          <p:nvPr/>
        </p:nvSpPr>
        <p:spPr>
          <a:xfrm>
            <a:off x="5531868" y="5745884"/>
            <a:ext cx="457518" cy="6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207" name="Flowchart: Process 285"/>
          <p:cNvGrpSpPr/>
          <p:nvPr/>
        </p:nvGrpSpPr>
        <p:grpSpPr>
          <a:xfrm>
            <a:off x="9051736" y="1290150"/>
            <a:ext cx="1115252" cy="303003"/>
            <a:chOff x="0" y="0"/>
            <a:chExt cx="1115251" cy="303001"/>
          </a:xfrm>
        </p:grpSpPr>
        <p:sp>
          <p:nvSpPr>
            <p:cNvPr id="205" name="Rectangle"/>
            <p:cNvSpPr/>
            <p:nvPr/>
          </p:nvSpPr>
          <p:spPr>
            <a:xfrm>
              <a:off x="-1" y="0"/>
              <a:ext cx="1115253" cy="30300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hueOff val="198858"/>
                    <a:satOff val="-2084"/>
                    <a:lumOff val="20614"/>
                  </a:schemeClr>
                </a:gs>
                <a:gs pos="50000">
                  <a:srgbClr val="A1C1E5"/>
                </a:gs>
                <a:gs pos="100000">
                  <a:schemeClr val="accent5">
                    <a:hueOff val="173799"/>
                    <a:satOff val="1446"/>
                    <a:lumOff val="13545"/>
                  </a:schemeClr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/>
              </a:pPr>
            </a:p>
          </p:txBody>
        </p:sp>
        <p:sp>
          <p:nvSpPr>
            <p:cNvPr id="206" name="SGORM Plugin"/>
            <p:cNvSpPr txBox="1"/>
            <p:nvPr/>
          </p:nvSpPr>
          <p:spPr>
            <a:xfrm>
              <a:off x="48894" y="37245"/>
              <a:ext cx="1017463" cy="228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SGORM Plugin</a:t>
              </a:r>
            </a:p>
          </p:txBody>
        </p:sp>
      </p:grpSp>
      <p:pic>
        <p:nvPicPr>
          <p:cNvPr id="208" name="Picture 292" descr="Picture 29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31479" y="2865409"/>
            <a:ext cx="1431895" cy="100331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Box 297"/>
          <p:cNvSpPr txBox="1"/>
          <p:nvPr/>
        </p:nvSpPr>
        <p:spPr>
          <a:xfrm>
            <a:off x="10945211" y="2852145"/>
            <a:ext cx="98281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Dashboards</a:t>
            </a:r>
          </a:p>
        </p:txBody>
      </p:sp>
      <p:pic>
        <p:nvPicPr>
          <p:cNvPr id="210" name="Picture 301" descr="Picture 30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28146" y="4064898"/>
            <a:ext cx="1424063" cy="976188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Box 306"/>
          <p:cNvSpPr txBox="1"/>
          <p:nvPr/>
        </p:nvSpPr>
        <p:spPr>
          <a:xfrm>
            <a:off x="10738054" y="4798857"/>
            <a:ext cx="98281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Reports</a:t>
            </a:r>
          </a:p>
        </p:txBody>
      </p:sp>
      <p:sp>
        <p:nvSpPr>
          <p:cNvPr id="297" name="Connector: Elbow 36"/>
          <p:cNvSpPr/>
          <p:nvPr/>
        </p:nvSpPr>
        <p:spPr>
          <a:xfrm>
            <a:off x="7832090" y="1441450"/>
            <a:ext cx="1215391" cy="1758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ln w="6350">
            <a:solidFill>
              <a:schemeClr val="accent1"/>
            </a:solidFill>
            <a:miter/>
            <a:headEnd type="triangle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13" name="Rectangle 38"/>
          <p:cNvSpPr/>
          <p:nvPr/>
        </p:nvSpPr>
        <p:spPr>
          <a:xfrm>
            <a:off x="200858" y="248420"/>
            <a:ext cx="8273706" cy="5930388"/>
          </a:xfrm>
          <a:prstGeom prst="rect">
            <a:avLst/>
          </a:prstGeom>
          <a:ln w="28575">
            <a:solidFill>
              <a:srgbClr val="0070C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8" name="Flowchart: Predefined Process 93"/>
          <p:cNvGrpSpPr/>
          <p:nvPr/>
        </p:nvGrpSpPr>
        <p:grpSpPr>
          <a:xfrm>
            <a:off x="8922359" y="3532639"/>
            <a:ext cx="1572249" cy="295518"/>
            <a:chOff x="0" y="0"/>
            <a:chExt cx="1572248" cy="295517"/>
          </a:xfrm>
        </p:grpSpPr>
        <p:grpSp>
          <p:nvGrpSpPr>
            <p:cNvPr id="216" name="Group"/>
            <p:cNvGrpSpPr/>
            <p:nvPr/>
          </p:nvGrpSpPr>
          <p:grpSpPr>
            <a:xfrm>
              <a:off x="-1" y="-1"/>
              <a:ext cx="1572250" cy="295519"/>
              <a:chOff x="0" y="0"/>
              <a:chExt cx="1572248" cy="295517"/>
            </a:xfrm>
          </p:grpSpPr>
          <p:sp>
            <p:nvSpPr>
              <p:cNvPr id="214" name="Rectangle"/>
              <p:cNvSpPr/>
              <p:nvPr/>
            </p:nvSpPr>
            <p:spPr>
              <a:xfrm>
                <a:off x="-1" y="-1"/>
                <a:ext cx="1572250" cy="29551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hueOff val="276588"/>
                      <a:satOff val="-4887"/>
                      <a:lumOff val="24576"/>
                    </a:schemeClr>
                  </a:gs>
                  <a:gs pos="50000">
                    <a:srgbClr val="98AAD9"/>
                  </a:gs>
                  <a:gs pos="100000">
                    <a:schemeClr val="accent1">
                      <a:hueOff val="258141"/>
                      <a:satOff val="-1314"/>
                      <a:lumOff val="16637"/>
                    </a:schemeClr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/>
                </a:pPr>
              </a:p>
            </p:txBody>
          </p:sp>
          <p:sp>
            <p:nvSpPr>
              <p:cNvPr id="215" name="Shape"/>
              <p:cNvSpPr/>
              <p:nvPr/>
            </p:nvSpPr>
            <p:spPr>
              <a:xfrm>
                <a:off x="-1" y="-1"/>
                <a:ext cx="1572250" cy="2955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/>
                </a:pPr>
              </a:p>
            </p:txBody>
          </p:sp>
        </p:grpSp>
        <p:sp>
          <p:nvSpPr>
            <p:cNvPr id="217" name="Tableau"/>
            <p:cNvSpPr txBox="1"/>
            <p:nvPr/>
          </p:nvSpPr>
          <p:spPr>
            <a:xfrm>
              <a:off x="245426" y="44801"/>
              <a:ext cx="1081396" cy="205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/>
              </a:lvl1pPr>
            </a:lstStyle>
            <a:p>
              <a:pPr/>
              <a:r>
                <a:t>Tableau</a:t>
              </a:r>
            </a:p>
          </p:txBody>
        </p:sp>
      </p:grpSp>
      <p:grpSp>
        <p:nvGrpSpPr>
          <p:cNvPr id="223" name="Flowchart: Predefined Process 94"/>
          <p:cNvGrpSpPr/>
          <p:nvPr/>
        </p:nvGrpSpPr>
        <p:grpSpPr>
          <a:xfrm>
            <a:off x="8922359" y="3892020"/>
            <a:ext cx="1572249" cy="301537"/>
            <a:chOff x="0" y="0"/>
            <a:chExt cx="1572248" cy="301536"/>
          </a:xfrm>
        </p:grpSpPr>
        <p:grpSp>
          <p:nvGrpSpPr>
            <p:cNvPr id="221" name="Group"/>
            <p:cNvGrpSpPr/>
            <p:nvPr/>
          </p:nvGrpSpPr>
          <p:grpSpPr>
            <a:xfrm>
              <a:off x="-1" y="-1"/>
              <a:ext cx="1572250" cy="301538"/>
              <a:chOff x="0" y="0"/>
              <a:chExt cx="1572248" cy="301536"/>
            </a:xfrm>
          </p:grpSpPr>
          <p:sp>
            <p:nvSpPr>
              <p:cNvPr id="219" name="Rectangle"/>
              <p:cNvSpPr/>
              <p:nvPr/>
            </p:nvSpPr>
            <p:spPr>
              <a:xfrm>
                <a:off x="-1" y="-1"/>
                <a:ext cx="1572250" cy="3015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hueOff val="276588"/>
                      <a:satOff val="-4887"/>
                      <a:lumOff val="24576"/>
                    </a:schemeClr>
                  </a:gs>
                  <a:gs pos="50000">
                    <a:srgbClr val="98AAD9"/>
                  </a:gs>
                  <a:gs pos="100000">
                    <a:schemeClr val="accent1">
                      <a:hueOff val="258141"/>
                      <a:satOff val="-1314"/>
                      <a:lumOff val="16637"/>
                    </a:schemeClr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/>
                </a:pPr>
              </a:p>
            </p:txBody>
          </p:sp>
          <p:sp>
            <p:nvSpPr>
              <p:cNvPr id="220" name="Shape"/>
              <p:cNvSpPr/>
              <p:nvPr/>
            </p:nvSpPr>
            <p:spPr>
              <a:xfrm>
                <a:off x="-1" y="-1"/>
                <a:ext cx="1572250" cy="3015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/>
                </a:pPr>
              </a:p>
            </p:txBody>
          </p:sp>
        </p:grpSp>
        <p:sp>
          <p:nvSpPr>
            <p:cNvPr id="222" name="Looker"/>
            <p:cNvSpPr txBox="1"/>
            <p:nvPr/>
          </p:nvSpPr>
          <p:spPr>
            <a:xfrm>
              <a:off x="245426" y="47811"/>
              <a:ext cx="1081396" cy="205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/>
              </a:lvl1pPr>
            </a:lstStyle>
            <a:p>
              <a:pPr/>
              <a:r>
                <a:t>Looker</a:t>
              </a:r>
            </a:p>
          </p:txBody>
        </p:sp>
      </p:grpSp>
      <p:grpSp>
        <p:nvGrpSpPr>
          <p:cNvPr id="228" name="Flowchart: Predefined Process 103"/>
          <p:cNvGrpSpPr/>
          <p:nvPr/>
        </p:nvGrpSpPr>
        <p:grpSpPr>
          <a:xfrm>
            <a:off x="8926894" y="4250954"/>
            <a:ext cx="1564381" cy="241354"/>
            <a:chOff x="0" y="0"/>
            <a:chExt cx="1564379" cy="241353"/>
          </a:xfrm>
        </p:grpSpPr>
        <p:grpSp>
          <p:nvGrpSpPr>
            <p:cNvPr id="226" name="Group"/>
            <p:cNvGrpSpPr/>
            <p:nvPr/>
          </p:nvGrpSpPr>
          <p:grpSpPr>
            <a:xfrm>
              <a:off x="0" y="0"/>
              <a:ext cx="1564381" cy="241354"/>
              <a:chOff x="0" y="0"/>
              <a:chExt cx="1564380" cy="241353"/>
            </a:xfrm>
          </p:grpSpPr>
          <p:sp>
            <p:nvSpPr>
              <p:cNvPr id="224" name="Rectangle"/>
              <p:cNvSpPr/>
              <p:nvPr/>
            </p:nvSpPr>
            <p:spPr>
              <a:xfrm>
                <a:off x="0" y="-1"/>
                <a:ext cx="1564380" cy="24135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hueOff val="276588"/>
                      <a:satOff val="-4887"/>
                      <a:lumOff val="24576"/>
                    </a:schemeClr>
                  </a:gs>
                  <a:gs pos="50000">
                    <a:srgbClr val="98AAD9"/>
                  </a:gs>
                  <a:gs pos="100000">
                    <a:schemeClr val="accent1">
                      <a:hueOff val="258141"/>
                      <a:satOff val="-1314"/>
                      <a:lumOff val="16637"/>
                    </a:schemeClr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/>
                </a:pPr>
              </a:p>
            </p:txBody>
          </p:sp>
          <p:sp>
            <p:nvSpPr>
              <p:cNvPr id="225" name="Shape"/>
              <p:cNvSpPr/>
              <p:nvPr/>
            </p:nvSpPr>
            <p:spPr>
              <a:xfrm>
                <a:off x="0" y="-1"/>
                <a:ext cx="1564381" cy="2413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/>
                </a:pPr>
              </a:p>
            </p:txBody>
          </p:sp>
        </p:grpSp>
        <p:sp>
          <p:nvSpPr>
            <p:cNvPr id="227" name="Streamlit"/>
            <p:cNvSpPr txBox="1"/>
            <p:nvPr/>
          </p:nvSpPr>
          <p:spPr>
            <a:xfrm>
              <a:off x="244443" y="17719"/>
              <a:ext cx="1075495" cy="205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/>
              </a:lvl1pPr>
            </a:lstStyle>
            <a:p>
              <a:pPr/>
              <a:r>
                <a:t>Streamlit</a:t>
              </a:r>
            </a:p>
          </p:txBody>
        </p:sp>
      </p:grpSp>
      <p:sp>
        <p:nvSpPr>
          <p:cNvPr id="298" name="Connector: Elbow 106"/>
          <p:cNvSpPr/>
          <p:nvPr/>
        </p:nvSpPr>
        <p:spPr>
          <a:xfrm>
            <a:off x="8135620" y="2987040"/>
            <a:ext cx="770890" cy="1267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3843" y="21600"/>
                </a:lnTo>
                <a:lnTo>
                  <a:pt x="13843" y="0"/>
                </a:lnTo>
                <a:lnTo>
                  <a:pt x="21600" y="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99" name="Connector: Elbow 109"/>
          <p:cNvSpPr/>
          <p:nvPr/>
        </p:nvSpPr>
        <p:spPr>
          <a:xfrm>
            <a:off x="8135620" y="3679190"/>
            <a:ext cx="782321" cy="575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3675" y="21600"/>
                </a:lnTo>
                <a:lnTo>
                  <a:pt x="13675" y="0"/>
                </a:lnTo>
                <a:lnTo>
                  <a:pt x="21600" y="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00" name="Connector: Elbow 111"/>
          <p:cNvSpPr/>
          <p:nvPr/>
        </p:nvSpPr>
        <p:spPr>
          <a:xfrm>
            <a:off x="8135620" y="4042409"/>
            <a:ext cx="782321" cy="212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3675" y="21600"/>
                </a:lnTo>
                <a:lnTo>
                  <a:pt x="13675" y="0"/>
                </a:lnTo>
                <a:lnTo>
                  <a:pt x="21600" y="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01" name="Connector: Elbow 113"/>
          <p:cNvSpPr/>
          <p:nvPr/>
        </p:nvSpPr>
        <p:spPr>
          <a:xfrm>
            <a:off x="8135620" y="4254500"/>
            <a:ext cx="787400" cy="116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3517" y="0"/>
                </a:lnTo>
                <a:lnTo>
                  <a:pt x="13517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33" name="Title 1"/>
          <p:cNvSpPr txBox="1"/>
          <p:nvPr/>
        </p:nvSpPr>
        <p:spPr>
          <a:xfrm>
            <a:off x="385202" y="6203889"/>
            <a:ext cx="3291311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Shotgrid ORM</a:t>
            </a:r>
          </a:p>
        </p:txBody>
      </p:sp>
      <p:sp>
        <p:nvSpPr>
          <p:cNvPr id="234" name="Subtitle 2"/>
          <p:cNvSpPr txBox="1"/>
          <p:nvPr/>
        </p:nvSpPr>
        <p:spPr>
          <a:xfrm>
            <a:off x="3884889" y="6238738"/>
            <a:ext cx="452903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</a:lvl1pPr>
          </a:lstStyle>
          <a:p>
            <a:pPr/>
            <a:r>
              <a:t>Shotgrid Object Relational Model Management </a:t>
            </a:r>
          </a:p>
        </p:txBody>
      </p:sp>
      <p:sp>
        <p:nvSpPr>
          <p:cNvPr id="235" name="Subtitle 2"/>
          <p:cNvSpPr txBox="1"/>
          <p:nvPr/>
        </p:nvSpPr>
        <p:spPr>
          <a:xfrm>
            <a:off x="3884889" y="6467552"/>
            <a:ext cx="3141456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</a:lvl1pPr>
          </a:lstStyle>
          <a:p>
            <a:pPr/>
            <a:r>
              <a:t>John E. Tran, 2024-Present</a:t>
            </a:r>
          </a:p>
        </p:txBody>
      </p:sp>
      <p:grpSp>
        <p:nvGrpSpPr>
          <p:cNvPr id="238" name="Flowchart: Predefined Process 133"/>
          <p:cNvGrpSpPr/>
          <p:nvPr/>
        </p:nvGrpSpPr>
        <p:grpSpPr>
          <a:xfrm>
            <a:off x="9012194" y="5343690"/>
            <a:ext cx="1482413" cy="304731"/>
            <a:chOff x="0" y="0"/>
            <a:chExt cx="1482412" cy="304729"/>
          </a:xfrm>
        </p:grpSpPr>
        <p:sp>
          <p:nvSpPr>
            <p:cNvPr id="236" name="Rectangle"/>
            <p:cNvSpPr/>
            <p:nvPr/>
          </p:nvSpPr>
          <p:spPr>
            <a:xfrm>
              <a:off x="-1" y="0"/>
              <a:ext cx="1482414" cy="304730"/>
            </a:xfrm>
            <a:prstGeom prst="rect">
              <a:avLst/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sx="100000" sy="100000" kx="0" ky="0" algn="b" rotWithShape="0" blurRad="63500" dist="19050" dir="5400000">
                <a:srgbClr val="000000">
                  <a:alpha val="6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7" name="Business Systems"/>
            <p:cNvSpPr txBox="1"/>
            <p:nvPr/>
          </p:nvSpPr>
          <p:spPr>
            <a:xfrm>
              <a:off x="231022" y="49408"/>
              <a:ext cx="1020369" cy="205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Business Systems</a:t>
              </a:r>
            </a:p>
          </p:txBody>
        </p:sp>
      </p:grpSp>
      <p:sp>
        <p:nvSpPr>
          <p:cNvPr id="302" name="Connector: Elbow 175"/>
          <p:cNvSpPr/>
          <p:nvPr/>
        </p:nvSpPr>
        <p:spPr>
          <a:xfrm>
            <a:off x="9701530" y="2611120"/>
            <a:ext cx="1744981" cy="7797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4564"/>
                </a:moveTo>
                <a:lnTo>
                  <a:pt x="0" y="21600"/>
                </a:lnTo>
                <a:lnTo>
                  <a:pt x="11272" y="21600"/>
                </a:lnTo>
                <a:lnTo>
                  <a:pt x="11272" y="0"/>
                </a:lnTo>
                <a:lnTo>
                  <a:pt x="21600" y="0"/>
                </a:lnTo>
                <a:lnTo>
                  <a:pt x="21600" y="7036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03" name="Connector: Elbow 178"/>
          <p:cNvSpPr/>
          <p:nvPr/>
        </p:nvSpPr>
        <p:spPr>
          <a:xfrm>
            <a:off x="9707880" y="2611120"/>
            <a:ext cx="1738631" cy="1121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6708"/>
                </a:moveTo>
                <a:lnTo>
                  <a:pt x="0" y="21600"/>
                </a:lnTo>
                <a:lnTo>
                  <a:pt x="11234" y="21600"/>
                </a:lnTo>
                <a:lnTo>
                  <a:pt x="11234" y="0"/>
                </a:lnTo>
                <a:lnTo>
                  <a:pt x="21600" y="0"/>
                </a:lnTo>
                <a:lnTo>
                  <a:pt x="21600" y="4892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04" name="Connector: Elbow 194"/>
          <p:cNvSpPr/>
          <p:nvPr/>
        </p:nvSpPr>
        <p:spPr>
          <a:xfrm>
            <a:off x="9707880" y="3275329"/>
            <a:ext cx="1738631" cy="847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477"/>
                </a:moveTo>
                <a:lnTo>
                  <a:pt x="0" y="0"/>
                </a:lnTo>
                <a:lnTo>
                  <a:pt x="11234" y="0"/>
                </a:lnTo>
                <a:lnTo>
                  <a:pt x="11234" y="21600"/>
                </a:lnTo>
                <a:lnTo>
                  <a:pt x="21600" y="21600"/>
                </a:lnTo>
                <a:lnTo>
                  <a:pt x="21600" y="15123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244" name="Flowchart: Predefined Process 198"/>
          <p:cNvGrpSpPr/>
          <p:nvPr/>
        </p:nvGrpSpPr>
        <p:grpSpPr>
          <a:xfrm>
            <a:off x="9012194" y="5733446"/>
            <a:ext cx="1482413" cy="300541"/>
            <a:chOff x="0" y="0"/>
            <a:chExt cx="1482412" cy="300539"/>
          </a:xfrm>
        </p:grpSpPr>
        <p:sp>
          <p:nvSpPr>
            <p:cNvPr id="242" name="Rectangle"/>
            <p:cNvSpPr/>
            <p:nvPr/>
          </p:nvSpPr>
          <p:spPr>
            <a:xfrm>
              <a:off x="-1" y="0"/>
              <a:ext cx="1482414" cy="300540"/>
            </a:xfrm>
            <a:prstGeom prst="rect">
              <a:avLst/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sx="100000" sy="100000" kx="0" ky="0" algn="b" rotWithShape="0" blurRad="63500" dist="19050" dir="5400000">
                <a:srgbClr val="000000">
                  <a:alpha val="6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3" name="Pipeline Systems"/>
            <p:cNvSpPr txBox="1"/>
            <p:nvPr/>
          </p:nvSpPr>
          <p:spPr>
            <a:xfrm>
              <a:off x="231022" y="47313"/>
              <a:ext cx="1020369" cy="205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Pipeline Systems</a:t>
              </a:r>
            </a:p>
          </p:txBody>
        </p:sp>
      </p:grpSp>
      <p:sp>
        <p:nvSpPr>
          <p:cNvPr id="305" name="Connector: Elbow 200"/>
          <p:cNvSpPr/>
          <p:nvPr/>
        </p:nvSpPr>
        <p:spPr>
          <a:xfrm>
            <a:off x="8135620" y="4254500"/>
            <a:ext cx="876300" cy="12407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2146" y="0"/>
                </a:lnTo>
                <a:lnTo>
                  <a:pt x="12146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06" name="Connector: Elbow 204"/>
          <p:cNvSpPr/>
          <p:nvPr/>
        </p:nvSpPr>
        <p:spPr>
          <a:xfrm>
            <a:off x="8135620" y="4254500"/>
            <a:ext cx="876300" cy="1628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2146" y="0"/>
                </a:lnTo>
                <a:lnTo>
                  <a:pt x="12146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07" name="Connector: Elbow 210"/>
          <p:cNvSpPr/>
          <p:nvPr/>
        </p:nvSpPr>
        <p:spPr>
          <a:xfrm>
            <a:off x="9707880" y="3478530"/>
            <a:ext cx="2697481" cy="10744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9268"/>
                </a:lnTo>
                <a:lnTo>
                  <a:pt x="21600" y="9268"/>
                </a:lnTo>
                <a:lnTo>
                  <a:pt x="21600" y="21600"/>
                </a:lnTo>
                <a:lnTo>
                  <a:pt x="19566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08" name="Connector: Elbow 212"/>
          <p:cNvSpPr/>
          <p:nvPr/>
        </p:nvSpPr>
        <p:spPr>
          <a:xfrm>
            <a:off x="9707880" y="3810000"/>
            <a:ext cx="1732281" cy="6400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3029"/>
                </a:moveTo>
                <a:lnTo>
                  <a:pt x="0" y="21600"/>
                </a:lnTo>
                <a:lnTo>
                  <a:pt x="11259" y="21600"/>
                </a:lnTo>
                <a:lnTo>
                  <a:pt x="11259" y="0"/>
                </a:lnTo>
                <a:lnTo>
                  <a:pt x="21600" y="0"/>
                </a:lnTo>
                <a:lnTo>
                  <a:pt x="21600" y="8571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09" name="Connector: Elbow 215"/>
          <p:cNvSpPr/>
          <p:nvPr/>
        </p:nvSpPr>
        <p:spPr>
          <a:xfrm>
            <a:off x="9707880" y="3810000"/>
            <a:ext cx="1732281" cy="938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5754"/>
                </a:moveTo>
                <a:lnTo>
                  <a:pt x="0" y="21600"/>
                </a:lnTo>
                <a:lnTo>
                  <a:pt x="11243" y="21600"/>
                </a:lnTo>
                <a:lnTo>
                  <a:pt x="11243" y="0"/>
                </a:lnTo>
                <a:lnTo>
                  <a:pt x="21600" y="0"/>
                </a:lnTo>
                <a:lnTo>
                  <a:pt x="21600" y="5846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252" name="Flowchart: Predefined Process 2"/>
          <p:cNvGrpSpPr/>
          <p:nvPr/>
        </p:nvGrpSpPr>
        <p:grpSpPr>
          <a:xfrm>
            <a:off x="8911035" y="1920520"/>
            <a:ext cx="1576150" cy="308275"/>
            <a:chOff x="0" y="0"/>
            <a:chExt cx="1576149" cy="308273"/>
          </a:xfrm>
        </p:grpSpPr>
        <p:sp>
          <p:nvSpPr>
            <p:cNvPr id="250" name="Rectangle"/>
            <p:cNvSpPr/>
            <p:nvPr/>
          </p:nvSpPr>
          <p:spPr>
            <a:xfrm>
              <a:off x="-1" y="0"/>
              <a:ext cx="1576151" cy="308274"/>
            </a:xfrm>
            <a:prstGeom prst="rect">
              <a:avLst/>
            </a:prstGeom>
            <a:solidFill>
              <a:srgbClr val="1F4E7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19050" dir="5400000">
                <a:srgbClr val="000000">
                  <a:alpha val="6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1" name="Data Science"/>
            <p:cNvSpPr txBox="1"/>
            <p:nvPr/>
          </p:nvSpPr>
          <p:spPr>
            <a:xfrm>
              <a:off x="242739" y="51180"/>
              <a:ext cx="1090671" cy="205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Data Science</a:t>
              </a:r>
            </a:p>
          </p:txBody>
        </p:sp>
      </p:grpSp>
      <p:sp>
        <p:nvSpPr>
          <p:cNvPr id="253" name="Connector: Elbow 4"/>
          <p:cNvSpPr/>
          <p:nvPr/>
        </p:nvSpPr>
        <p:spPr>
          <a:xfrm flipH="1" flipV="1" rot="5400000">
            <a:off x="7860771" y="3219413"/>
            <a:ext cx="1819088" cy="2822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grpSp>
        <p:nvGrpSpPr>
          <p:cNvPr id="256" name="Flowchart: Predefined Process 8"/>
          <p:cNvGrpSpPr/>
          <p:nvPr/>
        </p:nvGrpSpPr>
        <p:grpSpPr>
          <a:xfrm>
            <a:off x="8911436" y="2299492"/>
            <a:ext cx="1571659" cy="303003"/>
            <a:chOff x="0" y="0"/>
            <a:chExt cx="1571658" cy="303001"/>
          </a:xfrm>
        </p:grpSpPr>
        <p:sp>
          <p:nvSpPr>
            <p:cNvPr id="254" name="Rectangle"/>
            <p:cNvSpPr/>
            <p:nvPr/>
          </p:nvSpPr>
          <p:spPr>
            <a:xfrm>
              <a:off x="-1" y="0"/>
              <a:ext cx="1571660" cy="303002"/>
            </a:xfrm>
            <a:prstGeom prst="rect">
              <a:avLst/>
            </a:prstGeom>
            <a:solidFill>
              <a:srgbClr val="1F4E7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19050" dir="5400000">
                <a:srgbClr val="000000">
                  <a:alpha val="6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5" name="Machine Learning/AI"/>
            <p:cNvSpPr txBox="1"/>
            <p:nvPr/>
          </p:nvSpPr>
          <p:spPr>
            <a:xfrm>
              <a:off x="242176" y="48544"/>
              <a:ext cx="1087306" cy="205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Machine Learning/AI</a:t>
              </a:r>
            </a:p>
          </p:txBody>
        </p:sp>
      </p:grpSp>
      <p:grpSp>
        <p:nvGrpSpPr>
          <p:cNvPr id="261" name="Flowchart: Predefined Process 108"/>
          <p:cNvGrpSpPr/>
          <p:nvPr/>
        </p:nvGrpSpPr>
        <p:grpSpPr>
          <a:xfrm>
            <a:off x="8926894" y="4550924"/>
            <a:ext cx="1564381" cy="241354"/>
            <a:chOff x="0" y="0"/>
            <a:chExt cx="1564379" cy="241353"/>
          </a:xfrm>
        </p:grpSpPr>
        <p:grpSp>
          <p:nvGrpSpPr>
            <p:cNvPr id="259" name="Group"/>
            <p:cNvGrpSpPr/>
            <p:nvPr/>
          </p:nvGrpSpPr>
          <p:grpSpPr>
            <a:xfrm>
              <a:off x="0" y="0"/>
              <a:ext cx="1564381" cy="241354"/>
              <a:chOff x="0" y="0"/>
              <a:chExt cx="1564380" cy="241353"/>
            </a:xfrm>
          </p:grpSpPr>
          <p:sp>
            <p:nvSpPr>
              <p:cNvPr id="257" name="Rectangle"/>
              <p:cNvSpPr/>
              <p:nvPr/>
            </p:nvSpPr>
            <p:spPr>
              <a:xfrm>
                <a:off x="0" y="-1"/>
                <a:ext cx="1564380" cy="24135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hueOff val="276588"/>
                      <a:satOff val="-4887"/>
                      <a:lumOff val="24576"/>
                    </a:schemeClr>
                  </a:gs>
                  <a:gs pos="50000">
                    <a:srgbClr val="98AAD9"/>
                  </a:gs>
                  <a:gs pos="100000">
                    <a:schemeClr val="accent1">
                      <a:hueOff val="258141"/>
                      <a:satOff val="-1314"/>
                      <a:lumOff val="16637"/>
                    </a:schemeClr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258" name="Shape"/>
              <p:cNvSpPr/>
              <p:nvPr/>
            </p:nvSpPr>
            <p:spPr>
              <a:xfrm>
                <a:off x="0" y="-1"/>
                <a:ext cx="1564381" cy="2413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260" name="Excel"/>
            <p:cNvSpPr txBox="1"/>
            <p:nvPr/>
          </p:nvSpPr>
          <p:spPr>
            <a:xfrm>
              <a:off x="244443" y="17719"/>
              <a:ext cx="1075495" cy="205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/>
              </a:lvl1pPr>
            </a:lstStyle>
            <a:p>
              <a:pPr/>
              <a:r>
                <a:t>Excel</a:t>
              </a:r>
            </a:p>
          </p:txBody>
        </p:sp>
      </p:grpSp>
      <p:sp>
        <p:nvSpPr>
          <p:cNvPr id="262" name="Connector: Elbow 110"/>
          <p:cNvSpPr/>
          <p:nvPr/>
        </p:nvSpPr>
        <p:spPr>
          <a:xfrm flipH="1" flipV="1" rot="5400000">
            <a:off x="7670007" y="3035840"/>
            <a:ext cx="2202210" cy="279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grpSp>
        <p:nvGrpSpPr>
          <p:cNvPr id="267" name="Flowchart: Predefined Process 126"/>
          <p:cNvGrpSpPr/>
          <p:nvPr/>
        </p:nvGrpSpPr>
        <p:grpSpPr>
          <a:xfrm>
            <a:off x="8926013" y="4851324"/>
            <a:ext cx="1564381" cy="241354"/>
            <a:chOff x="0" y="0"/>
            <a:chExt cx="1564379" cy="241353"/>
          </a:xfrm>
        </p:grpSpPr>
        <p:grpSp>
          <p:nvGrpSpPr>
            <p:cNvPr id="265" name="Group"/>
            <p:cNvGrpSpPr/>
            <p:nvPr/>
          </p:nvGrpSpPr>
          <p:grpSpPr>
            <a:xfrm>
              <a:off x="0" y="0"/>
              <a:ext cx="1564381" cy="241354"/>
              <a:chOff x="0" y="0"/>
              <a:chExt cx="1564380" cy="241353"/>
            </a:xfrm>
          </p:grpSpPr>
          <p:sp>
            <p:nvSpPr>
              <p:cNvPr id="263" name="Rectangle"/>
              <p:cNvSpPr/>
              <p:nvPr/>
            </p:nvSpPr>
            <p:spPr>
              <a:xfrm>
                <a:off x="0" y="-1"/>
                <a:ext cx="1564380" cy="24135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hueOff val="276588"/>
                      <a:satOff val="-4887"/>
                      <a:lumOff val="24576"/>
                    </a:schemeClr>
                  </a:gs>
                  <a:gs pos="50000">
                    <a:srgbClr val="98AAD9"/>
                  </a:gs>
                  <a:gs pos="100000">
                    <a:schemeClr val="accent1">
                      <a:hueOff val="258141"/>
                      <a:satOff val="-1314"/>
                      <a:lumOff val="16637"/>
                    </a:schemeClr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264" name="Shape"/>
              <p:cNvSpPr/>
              <p:nvPr/>
            </p:nvSpPr>
            <p:spPr>
              <a:xfrm>
                <a:off x="0" y="-1"/>
                <a:ext cx="1564381" cy="2413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700" y="0"/>
                    </a:moveTo>
                    <a:lnTo>
                      <a:pt x="2700" y="21600"/>
                    </a:lnTo>
                    <a:moveTo>
                      <a:pt x="18900" y="0"/>
                    </a:moveTo>
                    <a:lnTo>
                      <a:pt x="18900" y="21600"/>
                    </a:lnTo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266" name="…"/>
            <p:cNvSpPr txBox="1"/>
            <p:nvPr/>
          </p:nvSpPr>
          <p:spPr>
            <a:xfrm>
              <a:off x="244443" y="17719"/>
              <a:ext cx="1075495" cy="205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/>
              </a:lvl1pPr>
            </a:lstStyle>
            <a:p>
              <a:pPr/>
              <a:r>
                <a:t>…</a:t>
              </a:r>
            </a:p>
          </p:txBody>
        </p:sp>
      </p:grpSp>
      <p:sp>
        <p:nvSpPr>
          <p:cNvPr id="310" name="Connector: Elbow 127"/>
          <p:cNvSpPr/>
          <p:nvPr/>
        </p:nvSpPr>
        <p:spPr>
          <a:xfrm>
            <a:off x="8135620" y="4254500"/>
            <a:ext cx="787400" cy="4165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3517" y="0"/>
                </a:lnTo>
                <a:lnTo>
                  <a:pt x="13517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11" name="Connector: Elbow 134"/>
          <p:cNvSpPr/>
          <p:nvPr/>
        </p:nvSpPr>
        <p:spPr>
          <a:xfrm>
            <a:off x="8135619" y="4254500"/>
            <a:ext cx="786131" cy="7162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3644" y="0"/>
                </a:lnTo>
                <a:lnTo>
                  <a:pt x="13644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272" name="Flowchart: Predefined Process 171"/>
          <p:cNvGrpSpPr/>
          <p:nvPr/>
        </p:nvGrpSpPr>
        <p:grpSpPr>
          <a:xfrm>
            <a:off x="10720314" y="2092212"/>
            <a:ext cx="1431895" cy="308275"/>
            <a:chOff x="0" y="0"/>
            <a:chExt cx="1431893" cy="308273"/>
          </a:xfrm>
        </p:grpSpPr>
        <p:sp>
          <p:nvSpPr>
            <p:cNvPr id="270" name="Rectangle"/>
            <p:cNvSpPr/>
            <p:nvPr/>
          </p:nvSpPr>
          <p:spPr>
            <a:xfrm>
              <a:off x="0" y="0"/>
              <a:ext cx="1431894" cy="308274"/>
            </a:xfrm>
            <a:prstGeom prst="rect">
              <a:avLst/>
            </a:prstGeom>
            <a:solidFill>
              <a:srgbClr val="1F4E7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19050" dir="5400000">
                <a:srgbClr val="000000">
                  <a:alpha val="63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1" name="Predictive Systems"/>
            <p:cNvSpPr txBox="1"/>
            <p:nvPr/>
          </p:nvSpPr>
          <p:spPr>
            <a:xfrm>
              <a:off x="224706" y="51180"/>
              <a:ext cx="982482" cy="205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Predictive Systems</a:t>
              </a:r>
            </a:p>
          </p:txBody>
        </p:sp>
      </p:grpSp>
      <p:sp>
        <p:nvSpPr>
          <p:cNvPr id="312" name="Connector: Elbow 172"/>
          <p:cNvSpPr/>
          <p:nvPr/>
        </p:nvSpPr>
        <p:spPr>
          <a:xfrm>
            <a:off x="9698990" y="1837690"/>
            <a:ext cx="1736090" cy="645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3096"/>
                </a:moveTo>
                <a:lnTo>
                  <a:pt x="0" y="21600"/>
                </a:lnTo>
                <a:lnTo>
                  <a:pt x="11250" y="21600"/>
                </a:lnTo>
                <a:lnTo>
                  <a:pt x="11250" y="0"/>
                </a:lnTo>
                <a:lnTo>
                  <a:pt x="21600" y="0"/>
                </a:lnTo>
                <a:lnTo>
                  <a:pt x="21600" y="8504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13" name="Connector: Elbow 179"/>
          <p:cNvSpPr/>
          <p:nvPr/>
        </p:nvSpPr>
        <p:spPr>
          <a:xfrm>
            <a:off x="9696450" y="2044700"/>
            <a:ext cx="1738631" cy="609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9000"/>
                </a:moveTo>
                <a:lnTo>
                  <a:pt x="0" y="0"/>
                </a:lnTo>
                <a:lnTo>
                  <a:pt x="11234" y="0"/>
                </a:lnTo>
                <a:lnTo>
                  <a:pt x="11234" y="21600"/>
                </a:lnTo>
                <a:lnTo>
                  <a:pt x="21600" y="21600"/>
                </a:lnTo>
                <a:lnTo>
                  <a:pt x="21600" y="12600"/>
                </a:lnTo>
              </a:path>
            </a:pathLst>
          </a:custGeom>
          <a:ln w="6350">
            <a:solidFill>
              <a:schemeClr val="accent1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