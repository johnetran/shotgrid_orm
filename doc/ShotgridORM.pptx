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181" d="100"/>
          <a:sy n="181" d="100"/>
        </p:scale>
        <p:origin x="642" y="-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A193-3555-D9FD-34D3-524B4F6AFA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9EE8D8-6A74-B073-E8C7-F7CA1C07DC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7F0705-D032-17D9-D589-06838838B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B0A4B5-4B24-0EEC-DEE9-826BD039D2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FE83D-6908-1526-4D7B-387F1CEF2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67675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50009-8DE4-091D-F70C-60C5DEFE9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A87F7-62CB-0D57-B664-78DCA8F725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7C1DD-4EF5-71DD-1B5A-D0DA17867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78D76E-A42C-6065-E626-3A7CCBE9A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0D47BC-1E12-D447-4D0D-0F8FD3A73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67169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1F147-2B79-15BD-1C2E-5196732179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6D593-D7ED-68C4-7675-7F06A08AC9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5C846-8EF1-B8F9-0151-4AC48861D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70905-B5EA-812D-E88D-0639E32EE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E43CA6-C491-7613-4EB3-57093E57C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5187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C8042-94A8-4C22-FCBD-1F3625F665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AB142-0E50-617E-2B19-055924D8E2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E83635-CD97-EFD4-0D6C-2F04F8FC90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583065-83D2-E6B9-1504-2C63E79DD0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B401C1-FB07-A5DD-06A4-049B561B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2C45D8-3443-1828-5D89-ACABCB758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05296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72AAE-44DD-AF53-363A-C3F4418D4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AD5E7B-2A13-49C6-7DFB-986465CAEE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23CA7F-CA95-968A-87CA-C4CFD9C4F8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B800B9-B5D7-7AF6-B1EE-55338AD492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47A2EE-E23B-D851-1EED-FD44B2EB5F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70B7A3E-AD75-BA6C-6F10-6FC14FC9C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D958D6-CA82-023F-1CB8-57ED17012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269440-4426-75D9-18AC-297A97499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20455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36677-B2D1-E651-9B73-1CC166303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FD4921-C01C-266C-31C6-01C492818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D2A56-9DF4-35AC-3B38-4F0FBBDEA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E02998-A0B8-1195-25CD-090A50368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66604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655A04-9725-EA86-79CB-7778F51F2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8F3F4F-C946-BE63-AD68-1B92C964A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5836E2-4EE2-793E-8136-1FC876258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37059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38B61-4273-992A-641B-B337A588C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46B2E-CAF4-6E31-74D8-DD37E00A64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7A05CE-074D-CF6E-81B4-79766F4933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65F121-23AB-6AFE-49EA-003707D5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E04ED8-DE50-C685-45B1-DB676F5259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71F39-3435-4E4F-14B6-7F1ED42099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40482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CFF18-607F-3FC4-5A72-0BE0ADBBB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594E0F9-5A55-59F0-1BE0-0DC947C694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107332-69CB-25CA-E256-DAD8E34241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549FAF-453E-F8E5-E01D-832779495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9F2B48-FE9D-3353-3D97-2EA1395EC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0C0E0E-0F50-A431-A357-1534CCBDA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66870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8CC43D-CC38-A092-8B60-1B5E59BA1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FDF1C9-47B9-A299-0702-E4AEF20106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E8720-FAEC-F668-CD8F-9BCA4C10E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9F8F4-5178-5971-C9F0-9DCA28A7C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2FDA7-01D2-B1E4-06B9-99DF8A3E3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74249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0BB3F6-1813-FD7A-1FD2-C86CE5AF5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2CAA382-DCFB-8874-A362-B8033C6B1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75D93-4CDA-D81B-26B6-C727CDD8E8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AC6859-2028-4C07-EAFD-1D89A421F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00681-0A11-91C3-2BA6-3EB13181E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450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AE6458-389B-B0CF-AC0F-DCFC8E6DFD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9B4D03-BD61-09AE-BF25-E240984577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2867F-BEA3-175B-24A6-2467EF70E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BE8D59-02A0-432D-960C-C8D1F28C55FA}" type="datetimeFigureOut">
              <a:rPr lang="en-CA" smtClean="0"/>
              <a:t>2025-02-08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C507E-C4A9-9634-72E9-96ED44427F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DB503-6A26-ABB9-F1B2-5407DDD4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1B0C12-35D4-4257-9CB3-9A843AE8E11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74767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37A3A9-92A5-917F-9E1B-96B3D46C7DB1}"/>
              </a:ext>
            </a:extLst>
          </p:cNvPr>
          <p:cNvSpPr/>
          <p:nvPr/>
        </p:nvSpPr>
        <p:spPr>
          <a:xfrm>
            <a:off x="1763142" y="530654"/>
            <a:ext cx="2574569" cy="6647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Autodesk</a:t>
            </a:r>
          </a:p>
          <a:p>
            <a:pPr algn="ctr"/>
            <a:r>
              <a:rPr lang="en-US" sz="1200" dirty="0"/>
              <a:t>Flow Production Tracking</a:t>
            </a:r>
          </a:p>
          <a:p>
            <a:pPr algn="ctr"/>
            <a:r>
              <a:rPr lang="en-US" sz="1200" dirty="0"/>
              <a:t>(formerly Shotgun/</a:t>
            </a:r>
            <a:r>
              <a:rPr lang="en-US" sz="1200" dirty="0" err="1"/>
              <a:t>Shotgrid</a:t>
            </a:r>
            <a:r>
              <a:rPr lang="en-US" sz="1200" dirty="0"/>
              <a:t> - SG)</a:t>
            </a:r>
            <a:endParaRPr lang="en-CA" sz="1200" dirty="0"/>
          </a:p>
        </p:txBody>
      </p:sp>
      <p:sp>
        <p:nvSpPr>
          <p:cNvPr id="4" name="Flowchart: Predefined Process 3">
            <a:extLst>
              <a:ext uri="{FF2B5EF4-FFF2-40B4-BE49-F238E27FC236}">
                <a16:creationId xmlns:a16="http://schemas.microsoft.com/office/drawing/2014/main" id="{69FD5B9A-3E56-0C00-6108-815CF5549BEE}"/>
              </a:ext>
            </a:extLst>
          </p:cNvPr>
          <p:cNvSpPr/>
          <p:nvPr/>
        </p:nvSpPr>
        <p:spPr>
          <a:xfrm>
            <a:off x="2416729" y="2319325"/>
            <a:ext cx="1280160" cy="396240"/>
          </a:xfrm>
          <a:prstGeom prst="flowChartPredefinedProcess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SGORM</a:t>
            </a:r>
            <a:endParaRPr lang="en-CA" sz="12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220973D-DDD2-16C7-BDB1-A2BDCE90FD27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>
            <a:off x="3050427" y="1195402"/>
            <a:ext cx="6382" cy="11239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Double Brace 11">
            <a:extLst>
              <a:ext uri="{FF2B5EF4-FFF2-40B4-BE49-F238E27FC236}">
                <a16:creationId xmlns:a16="http://schemas.microsoft.com/office/drawing/2014/main" id="{849990C1-FBE7-0C1A-9B60-046ECAE3782D}"/>
              </a:ext>
            </a:extLst>
          </p:cNvPr>
          <p:cNvSpPr/>
          <p:nvPr/>
        </p:nvSpPr>
        <p:spPr>
          <a:xfrm>
            <a:off x="3134176" y="1713767"/>
            <a:ext cx="535428" cy="314457"/>
          </a:xfrm>
          <a:prstGeom prst="brace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r>
              <a:rPr lang="en-US" sz="700" dirty="0"/>
              <a:t>SG Schema</a:t>
            </a:r>
            <a:endParaRPr lang="en-CA" sz="700" dirty="0"/>
          </a:p>
        </p:txBody>
      </p: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AFC2CDD9-926D-F8D9-F94A-185D9CF41B9D}"/>
              </a:ext>
            </a:extLst>
          </p:cNvPr>
          <p:cNvSpPr/>
          <p:nvPr/>
        </p:nvSpPr>
        <p:spPr>
          <a:xfrm>
            <a:off x="4288007" y="1679436"/>
            <a:ext cx="482404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JSON file</a:t>
            </a:r>
            <a:endParaRPr lang="en-CA" sz="800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DBF574AA-DEA3-BE0F-B795-C1F9982E492D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16200000" flipH="1">
            <a:off x="3547801" y="698028"/>
            <a:ext cx="484034" cy="14787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15C81AB-5CB9-D13B-2E8A-B178678C30B5}"/>
              </a:ext>
            </a:extLst>
          </p:cNvPr>
          <p:cNvCxnSpPr>
            <a:cxnSpLocks/>
            <a:stCxn id="38" idx="2"/>
            <a:endCxn id="4" idx="3"/>
          </p:cNvCxnSpPr>
          <p:nvPr/>
        </p:nvCxnSpPr>
        <p:spPr>
          <a:xfrm rot="5400000">
            <a:off x="3611755" y="2141024"/>
            <a:ext cx="461555" cy="2912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Flowchart: Preparation 26">
            <a:extLst>
              <a:ext uri="{FF2B5EF4-FFF2-40B4-BE49-F238E27FC236}">
                <a16:creationId xmlns:a16="http://schemas.microsoft.com/office/drawing/2014/main" id="{B01817EF-F816-3359-093F-1862D1D31853}"/>
              </a:ext>
            </a:extLst>
          </p:cNvPr>
          <p:cNvSpPr/>
          <p:nvPr/>
        </p:nvSpPr>
        <p:spPr>
          <a:xfrm>
            <a:off x="1919423" y="1393522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SG Connection</a:t>
            </a:r>
            <a:endParaRPr lang="en-CA" sz="800" dirty="0"/>
          </a:p>
        </p:txBody>
      </p:sp>
      <p:sp>
        <p:nvSpPr>
          <p:cNvPr id="32" name="Flowchart: Preparation 31">
            <a:extLst>
              <a:ext uri="{FF2B5EF4-FFF2-40B4-BE49-F238E27FC236}">
                <a16:creationId xmlns:a16="http://schemas.microsoft.com/office/drawing/2014/main" id="{96F44006-4813-F552-057A-BE0E555C9FDA}"/>
              </a:ext>
            </a:extLst>
          </p:cNvPr>
          <p:cNvSpPr/>
          <p:nvPr/>
        </p:nvSpPr>
        <p:spPr>
          <a:xfrm>
            <a:off x="1919423" y="1661566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Script</a:t>
            </a:r>
          </a:p>
          <a:p>
            <a:pPr algn="ctr"/>
            <a:r>
              <a:rPr lang="en-US" sz="800" dirty="0"/>
              <a:t>Credentials</a:t>
            </a:r>
            <a:endParaRPr lang="en-CA" sz="800" dirty="0"/>
          </a:p>
        </p:txBody>
      </p:sp>
      <p:sp>
        <p:nvSpPr>
          <p:cNvPr id="33" name="Flowchart: Preparation 32">
            <a:extLst>
              <a:ext uri="{FF2B5EF4-FFF2-40B4-BE49-F238E27FC236}">
                <a16:creationId xmlns:a16="http://schemas.microsoft.com/office/drawing/2014/main" id="{A535C1DE-45D3-3FB8-46A3-EC646C533046}"/>
              </a:ext>
            </a:extLst>
          </p:cNvPr>
          <p:cNvSpPr/>
          <p:nvPr/>
        </p:nvSpPr>
        <p:spPr>
          <a:xfrm>
            <a:off x="1919423" y="1947928"/>
            <a:ext cx="1137386" cy="246292"/>
          </a:xfrm>
          <a:prstGeom prst="flowChartPreparation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User</a:t>
            </a:r>
          </a:p>
          <a:p>
            <a:pPr algn="ctr"/>
            <a:r>
              <a:rPr lang="en-US" sz="800" dirty="0"/>
              <a:t>Credentials</a:t>
            </a:r>
            <a:endParaRPr lang="en-CA" sz="800" dirty="0"/>
          </a:p>
        </p:txBody>
      </p:sp>
      <p:sp>
        <p:nvSpPr>
          <p:cNvPr id="38" name="Flowchart: Document 37">
            <a:extLst>
              <a:ext uri="{FF2B5EF4-FFF2-40B4-BE49-F238E27FC236}">
                <a16:creationId xmlns:a16="http://schemas.microsoft.com/office/drawing/2014/main" id="{2194813C-6A97-DDEC-41E3-7D5254450EAC}"/>
              </a:ext>
            </a:extLst>
          </p:cNvPr>
          <p:cNvSpPr/>
          <p:nvPr/>
        </p:nvSpPr>
        <p:spPr>
          <a:xfrm>
            <a:off x="3746973" y="1679436"/>
            <a:ext cx="482404" cy="403104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JSON</a:t>
            </a:r>
            <a:endParaRPr lang="en-CA" sz="800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953C5D94-FD83-C6B5-C7E0-0A45BC0AFC97}"/>
              </a:ext>
            </a:extLst>
          </p:cNvPr>
          <p:cNvCxnSpPr>
            <a:cxnSpLocks/>
            <a:stCxn id="14" idx="2"/>
            <a:endCxn id="4" idx="3"/>
          </p:cNvCxnSpPr>
          <p:nvPr/>
        </p:nvCxnSpPr>
        <p:spPr>
          <a:xfrm rot="5400000">
            <a:off x="3876918" y="1865153"/>
            <a:ext cx="472263" cy="83232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Flowchart: Process 60">
            <a:extLst>
              <a:ext uri="{FF2B5EF4-FFF2-40B4-BE49-F238E27FC236}">
                <a16:creationId xmlns:a16="http://schemas.microsoft.com/office/drawing/2014/main" id="{F76C55C3-69F0-38BA-5030-2F26AFDC72A2}"/>
              </a:ext>
            </a:extLst>
          </p:cNvPr>
          <p:cNvSpPr/>
          <p:nvPr/>
        </p:nvSpPr>
        <p:spPr>
          <a:xfrm>
            <a:off x="2498281" y="4108807"/>
            <a:ext cx="1115251" cy="306562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 err="1"/>
              <a:t>Base.metadata</a:t>
            </a:r>
            <a:endParaRPr lang="en-CA" sz="1000" dirty="0"/>
          </a:p>
        </p:txBody>
      </p:sp>
      <p:sp>
        <p:nvSpPr>
          <p:cNvPr id="62" name="Flowchart: Predefined Process 61">
            <a:extLst>
              <a:ext uri="{FF2B5EF4-FFF2-40B4-BE49-F238E27FC236}">
                <a16:creationId xmlns:a16="http://schemas.microsoft.com/office/drawing/2014/main" id="{F0C463F2-2990-3C3A-2BE1-D004116CBDD0}"/>
              </a:ext>
            </a:extLst>
          </p:cNvPr>
          <p:cNvSpPr/>
          <p:nvPr/>
        </p:nvSpPr>
        <p:spPr>
          <a:xfrm>
            <a:off x="2415826" y="4873103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SQLAlchemyAlembic</a:t>
            </a:r>
            <a:endParaRPr lang="en-CA" sz="1200" dirty="0"/>
          </a:p>
        </p:txBody>
      </p:sp>
      <p:sp>
        <p:nvSpPr>
          <p:cNvPr id="63" name="Flowchart: Predefined Process 62">
            <a:extLst>
              <a:ext uri="{FF2B5EF4-FFF2-40B4-BE49-F238E27FC236}">
                <a16:creationId xmlns:a16="http://schemas.microsoft.com/office/drawing/2014/main" id="{102A291B-2D80-6701-551D-C12E7087C08C}"/>
              </a:ext>
            </a:extLst>
          </p:cNvPr>
          <p:cNvSpPr/>
          <p:nvPr/>
        </p:nvSpPr>
        <p:spPr>
          <a:xfrm>
            <a:off x="497351" y="2309069"/>
            <a:ext cx="1280160" cy="39624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SQLAlchemy</a:t>
            </a:r>
            <a:endParaRPr lang="en-CA" sz="1200" dirty="0"/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E714ACF-0EE3-9037-F924-E27EE6CA23D5}"/>
              </a:ext>
            </a:extLst>
          </p:cNvPr>
          <p:cNvCxnSpPr>
            <a:stCxn id="63" idx="3"/>
            <a:endCxn id="4" idx="1"/>
          </p:cNvCxnSpPr>
          <p:nvPr/>
        </p:nvCxnSpPr>
        <p:spPr>
          <a:xfrm>
            <a:off x="1777511" y="2507189"/>
            <a:ext cx="639218" cy="102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Flowchart: Document 73">
            <a:extLst>
              <a:ext uri="{FF2B5EF4-FFF2-40B4-BE49-F238E27FC236}">
                <a16:creationId xmlns:a16="http://schemas.microsoft.com/office/drawing/2014/main" id="{AE209C8E-2AE7-53A2-93CA-9058D685B179}"/>
              </a:ext>
            </a:extLst>
          </p:cNvPr>
          <p:cNvSpPr/>
          <p:nvPr/>
        </p:nvSpPr>
        <p:spPr>
          <a:xfrm>
            <a:off x="7458380" y="3207690"/>
            <a:ext cx="749915" cy="391638"/>
          </a:xfrm>
          <a:prstGeom prst="flowChartDocumen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sgmodel.py</a:t>
            </a:r>
            <a:endParaRPr lang="en-CA" sz="800" dirty="0"/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30C31F1B-66E3-4174-E314-634569FC60A0}"/>
              </a:ext>
            </a:extLst>
          </p:cNvPr>
          <p:cNvCxnSpPr>
            <a:cxnSpLocks/>
            <a:stCxn id="98" idx="3"/>
            <a:endCxn id="74" idx="1"/>
          </p:cNvCxnSpPr>
          <p:nvPr/>
        </p:nvCxnSpPr>
        <p:spPr>
          <a:xfrm>
            <a:off x="6195165" y="3400003"/>
            <a:ext cx="1263215" cy="35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9" name="Flowchart: Process 88">
            <a:extLst>
              <a:ext uri="{FF2B5EF4-FFF2-40B4-BE49-F238E27FC236}">
                <a16:creationId xmlns:a16="http://schemas.microsoft.com/office/drawing/2014/main" id="{D5083987-A46D-7E9D-2FDC-452AAE72626F}"/>
              </a:ext>
            </a:extLst>
          </p:cNvPr>
          <p:cNvSpPr/>
          <p:nvPr/>
        </p:nvSpPr>
        <p:spPr>
          <a:xfrm>
            <a:off x="4081856" y="2663986"/>
            <a:ext cx="2113305" cy="539786"/>
          </a:xfrm>
          <a:prstGeom prst="flowChartProcess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EntityClass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EntityType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Asset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[“Asset”]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Shot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[“Shot”]</a:t>
            </a:r>
          </a:p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7" name="Flowchart: Process 96">
            <a:extLst>
              <a:ext uri="{FF2B5EF4-FFF2-40B4-BE49-F238E27FC236}">
                <a16:creationId xmlns:a16="http://schemas.microsoft.com/office/drawing/2014/main" id="{705FF217-AC87-0749-0FBB-05E65427235F}"/>
              </a:ext>
            </a:extLst>
          </p:cNvPr>
          <p:cNvSpPr/>
          <p:nvPr/>
        </p:nvSpPr>
        <p:spPr>
          <a:xfrm>
            <a:off x="4110552" y="3935433"/>
            <a:ext cx="3036227" cy="640593"/>
          </a:xfrm>
          <a:prstGeom prst="flowChartProcess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engine = 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create_engine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sqlite+pysqlite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:///</a:t>
            </a:r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test.db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sg_orm.Base.metadata.drop_all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(bind=engine)</a:t>
            </a:r>
          </a:p>
          <a:p>
            <a:r>
              <a:rPr lang="en-US" sz="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sg_orm.Base.metadata.create_all</a:t>
            </a:r>
            <a:r>
              <a:rPr lang="en-US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(engine)</a:t>
            </a:r>
          </a:p>
        </p:txBody>
      </p:sp>
      <p:sp>
        <p:nvSpPr>
          <p:cNvPr id="98" name="Flowchart: Process 97">
            <a:extLst>
              <a:ext uri="{FF2B5EF4-FFF2-40B4-BE49-F238E27FC236}">
                <a16:creationId xmlns:a16="http://schemas.microsoft.com/office/drawing/2014/main" id="{F6C8DC01-7C6C-1B6F-1DFD-34C4F33E94CB}"/>
              </a:ext>
            </a:extLst>
          </p:cNvPr>
          <p:cNvSpPr/>
          <p:nvPr/>
        </p:nvSpPr>
        <p:spPr>
          <a:xfrm>
            <a:off x="4081856" y="3247817"/>
            <a:ext cx="2113309" cy="304371"/>
          </a:xfrm>
          <a:prstGeom prst="flowChartProcess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sg_orm.create_script</a:t>
            </a:r>
            <a:r>
              <a:rPr lang="en-CA" sz="700" dirty="0">
                <a:latin typeface="Courier New" panose="02070309020205020404" pitchFamily="49" charset="0"/>
                <a:cs typeface="Courier New" panose="02070309020205020404" pitchFamily="49" charset="0"/>
              </a:rPr>
              <a:t>(“</a:t>
            </a:r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sgmodel.py</a:t>
            </a:r>
            <a:r>
              <a:rPr lang="en-CA" sz="700" dirty="0">
                <a:latin typeface="Courier New" panose="02070309020205020404" pitchFamily="49" charset="0"/>
                <a:cs typeface="Courier New" panose="02070309020205020404" pitchFamily="49" charset="0"/>
              </a:rPr>
              <a:t>”)</a:t>
            </a:r>
          </a:p>
        </p:txBody>
      </p:sp>
      <p:sp>
        <p:nvSpPr>
          <p:cNvPr id="106" name="Flowchart: Process 105">
            <a:extLst>
              <a:ext uri="{FF2B5EF4-FFF2-40B4-BE49-F238E27FC236}">
                <a16:creationId xmlns:a16="http://schemas.microsoft.com/office/drawing/2014/main" id="{7A789F5D-54BB-4552-B76E-00D9D32AD650}"/>
              </a:ext>
            </a:extLst>
          </p:cNvPr>
          <p:cNvSpPr/>
          <p:nvPr/>
        </p:nvSpPr>
        <p:spPr>
          <a:xfrm>
            <a:off x="2450409" y="3261032"/>
            <a:ext cx="1210994" cy="281448"/>
          </a:xfrm>
          <a:prstGeom prst="flowChartProcess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sg_orm = SGORM(...)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D7502353-CF43-4295-42BC-11E7D98F6D04}"/>
              </a:ext>
            </a:extLst>
          </p:cNvPr>
          <p:cNvCxnSpPr>
            <a:cxnSpLocks/>
            <a:stCxn id="4" idx="2"/>
            <a:endCxn id="106" idx="0"/>
          </p:cNvCxnSpPr>
          <p:nvPr/>
        </p:nvCxnSpPr>
        <p:spPr>
          <a:xfrm flipH="1">
            <a:off x="3055906" y="2715565"/>
            <a:ext cx="903" cy="545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C3117549-8E39-90A4-9B7B-E81AF980CDE1}"/>
              </a:ext>
            </a:extLst>
          </p:cNvPr>
          <p:cNvCxnSpPr>
            <a:stCxn id="106" idx="2"/>
            <a:endCxn id="61" idx="0"/>
          </p:cNvCxnSpPr>
          <p:nvPr/>
        </p:nvCxnSpPr>
        <p:spPr>
          <a:xfrm>
            <a:off x="3055906" y="3542480"/>
            <a:ext cx="1" cy="566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60103E68-9475-4FD1-3E78-EB7991498175}"/>
              </a:ext>
            </a:extLst>
          </p:cNvPr>
          <p:cNvCxnSpPr>
            <a:stCxn id="61" idx="3"/>
            <a:endCxn id="97" idx="1"/>
          </p:cNvCxnSpPr>
          <p:nvPr/>
        </p:nvCxnSpPr>
        <p:spPr>
          <a:xfrm flipV="1">
            <a:off x="3613532" y="4255730"/>
            <a:ext cx="497020" cy="63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Flowchart: Magnetic Disk 139">
            <a:extLst>
              <a:ext uri="{FF2B5EF4-FFF2-40B4-BE49-F238E27FC236}">
                <a16:creationId xmlns:a16="http://schemas.microsoft.com/office/drawing/2014/main" id="{224DFFEF-C1B1-09AA-5C87-2A71252BB232}"/>
              </a:ext>
            </a:extLst>
          </p:cNvPr>
          <p:cNvSpPr/>
          <p:nvPr/>
        </p:nvSpPr>
        <p:spPr>
          <a:xfrm>
            <a:off x="7537347" y="3880319"/>
            <a:ext cx="591982" cy="750820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DB</a:t>
            </a:r>
            <a:endParaRPr lang="en-CA" dirty="0"/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0A845921-8DA3-0F44-D2D5-3BE4FF69A0AA}"/>
              </a:ext>
            </a:extLst>
          </p:cNvPr>
          <p:cNvCxnSpPr>
            <a:stCxn id="97" idx="3"/>
            <a:endCxn id="140" idx="2"/>
          </p:cNvCxnSpPr>
          <p:nvPr/>
        </p:nvCxnSpPr>
        <p:spPr>
          <a:xfrm flipV="1">
            <a:off x="7146779" y="4255729"/>
            <a:ext cx="39056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Flowchart: Predefined Process 146">
            <a:extLst>
              <a:ext uri="{FF2B5EF4-FFF2-40B4-BE49-F238E27FC236}">
                <a16:creationId xmlns:a16="http://schemas.microsoft.com/office/drawing/2014/main" id="{DE0A160B-D557-DE07-4C1B-FDA82A6B9894}"/>
              </a:ext>
            </a:extLst>
          </p:cNvPr>
          <p:cNvSpPr/>
          <p:nvPr/>
        </p:nvSpPr>
        <p:spPr>
          <a:xfrm>
            <a:off x="8749757" y="651181"/>
            <a:ext cx="1719212" cy="435643"/>
          </a:xfrm>
          <a:prstGeom prst="flowChartPredefined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SG Events Framework</a:t>
            </a:r>
            <a:endParaRPr lang="en-CA" sz="1200" dirty="0"/>
          </a:p>
        </p:txBody>
      </p:sp>
      <p:cxnSp>
        <p:nvCxnSpPr>
          <p:cNvPr id="149" name="Connector: Elbow 148">
            <a:extLst>
              <a:ext uri="{FF2B5EF4-FFF2-40B4-BE49-F238E27FC236}">
                <a16:creationId xmlns:a16="http://schemas.microsoft.com/office/drawing/2014/main" id="{C851FE4D-65AF-6F38-7B1E-B97B1A44D171}"/>
              </a:ext>
            </a:extLst>
          </p:cNvPr>
          <p:cNvCxnSpPr>
            <a:cxnSpLocks/>
            <a:stCxn id="2" idx="3"/>
            <a:endCxn id="147" idx="1"/>
          </p:cNvCxnSpPr>
          <p:nvPr/>
        </p:nvCxnSpPr>
        <p:spPr>
          <a:xfrm>
            <a:off x="4337711" y="863028"/>
            <a:ext cx="4412046" cy="597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00381DB4-AAC3-568A-2806-90AE1639A303}"/>
              </a:ext>
            </a:extLst>
          </p:cNvPr>
          <p:cNvCxnSpPr>
            <a:cxnSpLocks/>
            <a:stCxn id="147" idx="2"/>
            <a:endCxn id="286" idx="0"/>
          </p:cNvCxnSpPr>
          <p:nvPr/>
        </p:nvCxnSpPr>
        <p:spPr>
          <a:xfrm>
            <a:off x="9609363" y="1086824"/>
            <a:ext cx="0" cy="2033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E4380018-EA4F-C1A4-159C-D1C0AA89DC5C}"/>
              </a:ext>
            </a:extLst>
          </p:cNvPr>
          <p:cNvCxnSpPr>
            <a:stCxn id="74" idx="2"/>
            <a:endCxn id="140" idx="1"/>
          </p:cNvCxnSpPr>
          <p:nvPr/>
        </p:nvCxnSpPr>
        <p:spPr>
          <a:xfrm>
            <a:off x="7833338" y="3573436"/>
            <a:ext cx="0" cy="3068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1954DE14-E41C-9637-4254-41AEF685B0FE}"/>
              </a:ext>
            </a:extLst>
          </p:cNvPr>
          <p:cNvCxnSpPr>
            <a:stCxn id="61" idx="2"/>
            <a:endCxn id="62" idx="0"/>
          </p:cNvCxnSpPr>
          <p:nvPr/>
        </p:nvCxnSpPr>
        <p:spPr>
          <a:xfrm flipH="1">
            <a:off x="3055906" y="4415369"/>
            <a:ext cx="1" cy="4577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A5FD87FD-3F69-E094-AEE0-A1F5DFCD8DCD}"/>
              </a:ext>
            </a:extLst>
          </p:cNvPr>
          <p:cNvCxnSpPr>
            <a:cxnSpLocks/>
            <a:stCxn id="140" idx="3"/>
            <a:endCxn id="62" idx="3"/>
          </p:cNvCxnSpPr>
          <p:nvPr/>
        </p:nvCxnSpPr>
        <p:spPr>
          <a:xfrm rot="5400000">
            <a:off x="5544620" y="2782505"/>
            <a:ext cx="440084" cy="413735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Flowchart: Process 170">
            <a:extLst>
              <a:ext uri="{FF2B5EF4-FFF2-40B4-BE49-F238E27FC236}">
                <a16:creationId xmlns:a16="http://schemas.microsoft.com/office/drawing/2014/main" id="{98CC821F-2835-810E-9EC5-1BC673D959AC}"/>
              </a:ext>
            </a:extLst>
          </p:cNvPr>
          <p:cNvSpPr/>
          <p:nvPr/>
        </p:nvSpPr>
        <p:spPr>
          <a:xfrm>
            <a:off x="2078079" y="5580154"/>
            <a:ext cx="1955653" cy="334878"/>
          </a:xfrm>
          <a:prstGeom prst="flowChartProcess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alembic revision --autogenerate</a:t>
            </a:r>
          </a:p>
        </p:txBody>
      </p: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BCD45D31-6ABF-278B-3E57-7451E2C18D4A}"/>
              </a:ext>
            </a:extLst>
          </p:cNvPr>
          <p:cNvCxnSpPr>
            <a:cxnSpLocks/>
            <a:stCxn id="263" idx="3"/>
          </p:cNvCxnSpPr>
          <p:nvPr/>
        </p:nvCxnSpPr>
        <p:spPr>
          <a:xfrm flipV="1">
            <a:off x="7331058" y="4644236"/>
            <a:ext cx="496808" cy="11033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Flowchart: Predefined Process 177">
            <a:extLst>
              <a:ext uri="{FF2B5EF4-FFF2-40B4-BE49-F238E27FC236}">
                <a16:creationId xmlns:a16="http://schemas.microsoft.com/office/drawing/2014/main" id="{BACF6111-FB43-16AF-F717-AB9DE8380139}"/>
              </a:ext>
            </a:extLst>
          </p:cNvPr>
          <p:cNvSpPr/>
          <p:nvPr/>
        </p:nvSpPr>
        <p:spPr>
          <a:xfrm>
            <a:off x="497351" y="3203088"/>
            <a:ext cx="1280160" cy="396240"/>
          </a:xfrm>
          <a:prstGeom prst="flowChartPredefined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Scheduler</a:t>
            </a:r>
            <a:br>
              <a:rPr lang="en-US" sz="1200" dirty="0"/>
            </a:br>
            <a:r>
              <a:rPr lang="en-US" sz="1200" dirty="0"/>
              <a:t>(</a:t>
            </a:r>
            <a:r>
              <a:rPr lang="en-US" sz="1200" dirty="0" err="1"/>
              <a:t>cron</a:t>
            </a:r>
            <a:r>
              <a:rPr lang="en-US" sz="1200" dirty="0"/>
              <a:t>)</a:t>
            </a:r>
            <a:endParaRPr lang="en-CA" sz="1200" dirty="0"/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4298C598-F097-910C-6009-36EFDE96C66E}"/>
              </a:ext>
            </a:extLst>
          </p:cNvPr>
          <p:cNvCxnSpPr>
            <a:stCxn id="178" idx="3"/>
            <a:endCxn id="106" idx="1"/>
          </p:cNvCxnSpPr>
          <p:nvPr/>
        </p:nvCxnSpPr>
        <p:spPr>
          <a:xfrm>
            <a:off x="1777511" y="3401208"/>
            <a:ext cx="672898" cy="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E8ABF62A-85B9-6924-A605-5047EAA5E7C7}"/>
              </a:ext>
            </a:extLst>
          </p:cNvPr>
          <p:cNvCxnSpPr>
            <a:stCxn id="106" idx="3"/>
            <a:endCxn id="98" idx="1"/>
          </p:cNvCxnSpPr>
          <p:nvPr/>
        </p:nvCxnSpPr>
        <p:spPr>
          <a:xfrm flipV="1">
            <a:off x="3661403" y="3400003"/>
            <a:ext cx="420453" cy="17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8D096A2-CC34-A4D7-C9EA-588656EDDD25}"/>
              </a:ext>
            </a:extLst>
          </p:cNvPr>
          <p:cNvCxnSpPr>
            <a:stCxn id="106" idx="3"/>
            <a:endCxn id="89" idx="1"/>
          </p:cNvCxnSpPr>
          <p:nvPr/>
        </p:nvCxnSpPr>
        <p:spPr>
          <a:xfrm flipV="1">
            <a:off x="3661403" y="2933879"/>
            <a:ext cx="420453" cy="46787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AFE4652C-52E0-B97C-F154-AB8228C6FBBE}"/>
              </a:ext>
            </a:extLst>
          </p:cNvPr>
          <p:cNvCxnSpPr>
            <a:cxnSpLocks/>
            <a:stCxn id="62" idx="2"/>
            <a:endCxn id="171" idx="0"/>
          </p:cNvCxnSpPr>
          <p:nvPr/>
        </p:nvCxnSpPr>
        <p:spPr>
          <a:xfrm>
            <a:off x="3055906" y="5269343"/>
            <a:ext cx="0" cy="3108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Flowchart: Predefined Process 239">
            <a:extLst>
              <a:ext uri="{FF2B5EF4-FFF2-40B4-BE49-F238E27FC236}">
                <a16:creationId xmlns:a16="http://schemas.microsoft.com/office/drawing/2014/main" id="{6DECF243-4A14-F63D-2DBC-73516B90F800}"/>
              </a:ext>
            </a:extLst>
          </p:cNvPr>
          <p:cNvSpPr/>
          <p:nvPr/>
        </p:nvSpPr>
        <p:spPr>
          <a:xfrm>
            <a:off x="8910308" y="2840620"/>
            <a:ext cx="1584299" cy="293766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Microsoft </a:t>
            </a:r>
            <a:r>
              <a:rPr lang="en-US" sz="900" dirty="0" err="1"/>
              <a:t>PowerBI</a:t>
            </a:r>
            <a:endParaRPr lang="en-CA" sz="900" dirty="0"/>
          </a:p>
        </p:txBody>
      </p:sp>
      <p:sp>
        <p:nvSpPr>
          <p:cNvPr id="241" name="Flowchart: Predefined Process 240">
            <a:extLst>
              <a:ext uri="{FF2B5EF4-FFF2-40B4-BE49-F238E27FC236}">
                <a16:creationId xmlns:a16="http://schemas.microsoft.com/office/drawing/2014/main" id="{4725CB1D-7202-E02E-D3E9-8E9CD4F36632}"/>
              </a:ext>
            </a:extLst>
          </p:cNvPr>
          <p:cNvSpPr/>
          <p:nvPr/>
        </p:nvSpPr>
        <p:spPr>
          <a:xfrm>
            <a:off x="8922359" y="3180565"/>
            <a:ext cx="1572248" cy="295517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Apache </a:t>
            </a:r>
            <a:r>
              <a:rPr lang="en-US" sz="900" dirty="0" err="1"/>
              <a:t>SuperSet</a:t>
            </a:r>
            <a:endParaRPr lang="en-CA" sz="900" dirty="0"/>
          </a:p>
        </p:txBody>
      </p:sp>
      <p:cxnSp>
        <p:nvCxnSpPr>
          <p:cNvPr id="247" name="Connector: Elbow 246">
            <a:extLst>
              <a:ext uri="{FF2B5EF4-FFF2-40B4-BE49-F238E27FC236}">
                <a16:creationId xmlns:a16="http://schemas.microsoft.com/office/drawing/2014/main" id="{D6C7DA75-A029-7088-9C9C-451FC522B4EE}"/>
              </a:ext>
            </a:extLst>
          </p:cNvPr>
          <p:cNvCxnSpPr>
            <a:cxnSpLocks/>
            <a:stCxn id="140" idx="4"/>
            <a:endCxn id="241" idx="1"/>
          </p:cNvCxnSpPr>
          <p:nvPr/>
        </p:nvCxnSpPr>
        <p:spPr>
          <a:xfrm flipV="1">
            <a:off x="8129329" y="3328324"/>
            <a:ext cx="793030" cy="927405"/>
          </a:xfrm>
          <a:prstGeom prst="bentConnector3">
            <a:avLst>
              <a:gd name="adj1" fmla="val 633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Flowchart: Process 262">
            <a:extLst>
              <a:ext uri="{FF2B5EF4-FFF2-40B4-BE49-F238E27FC236}">
                <a16:creationId xmlns:a16="http://schemas.microsoft.com/office/drawing/2014/main" id="{3AD200F0-681D-3AF2-9C1E-25ED96D2D5EE}"/>
              </a:ext>
            </a:extLst>
          </p:cNvPr>
          <p:cNvSpPr/>
          <p:nvPr/>
        </p:nvSpPr>
        <p:spPr>
          <a:xfrm>
            <a:off x="5989386" y="5598254"/>
            <a:ext cx="1341672" cy="298678"/>
          </a:xfrm>
          <a:prstGeom prst="flowChartProcess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it-IT" sz="700" dirty="0">
                <a:latin typeface="Courier New" panose="02070309020205020404" pitchFamily="49" charset="0"/>
                <a:cs typeface="Courier New" panose="02070309020205020404" pitchFamily="49" charset="0"/>
              </a:rPr>
              <a:t>alembic –upgrade head</a:t>
            </a:r>
            <a:endParaRPr lang="en-CA" sz="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67" name="Flowchart: Document 266">
            <a:extLst>
              <a:ext uri="{FF2B5EF4-FFF2-40B4-BE49-F238E27FC236}">
                <a16:creationId xmlns:a16="http://schemas.microsoft.com/office/drawing/2014/main" id="{2B28CEF8-F8D0-0BC4-88DC-0C1A765BE285}"/>
              </a:ext>
            </a:extLst>
          </p:cNvPr>
          <p:cNvSpPr/>
          <p:nvPr/>
        </p:nvSpPr>
        <p:spPr>
          <a:xfrm>
            <a:off x="4497612" y="5551774"/>
            <a:ext cx="1027892" cy="391638"/>
          </a:xfrm>
          <a:prstGeom prst="flowChartDocumen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dirty="0"/>
              <a:t>versions/xxxxxxx.py</a:t>
            </a:r>
            <a:endParaRPr lang="en-CA" sz="800" dirty="0"/>
          </a:p>
        </p:txBody>
      </p:sp>
      <p:cxnSp>
        <p:nvCxnSpPr>
          <p:cNvPr id="274" name="Straight Arrow Connector 273">
            <a:extLst>
              <a:ext uri="{FF2B5EF4-FFF2-40B4-BE49-F238E27FC236}">
                <a16:creationId xmlns:a16="http://schemas.microsoft.com/office/drawing/2014/main" id="{0E695035-61F8-68F5-D30A-4AB63A6AAE1D}"/>
              </a:ext>
            </a:extLst>
          </p:cNvPr>
          <p:cNvCxnSpPr>
            <a:stCxn id="171" idx="3"/>
            <a:endCxn id="267" idx="1"/>
          </p:cNvCxnSpPr>
          <p:nvPr/>
        </p:nvCxnSpPr>
        <p:spPr>
          <a:xfrm>
            <a:off x="4033732" y="5747593"/>
            <a:ext cx="4638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0C85B77D-2061-8B26-CA49-6C675C74213C}"/>
              </a:ext>
            </a:extLst>
          </p:cNvPr>
          <p:cNvCxnSpPr>
            <a:cxnSpLocks/>
            <a:stCxn id="267" idx="3"/>
            <a:endCxn id="263" idx="1"/>
          </p:cNvCxnSpPr>
          <p:nvPr/>
        </p:nvCxnSpPr>
        <p:spPr>
          <a:xfrm>
            <a:off x="5525504" y="5747593"/>
            <a:ext cx="46388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Flowchart: Process 285">
            <a:extLst>
              <a:ext uri="{FF2B5EF4-FFF2-40B4-BE49-F238E27FC236}">
                <a16:creationId xmlns:a16="http://schemas.microsoft.com/office/drawing/2014/main" id="{8A3B5783-54B6-F9E5-0F94-63FC39D1A93A}"/>
              </a:ext>
            </a:extLst>
          </p:cNvPr>
          <p:cNvSpPr/>
          <p:nvPr/>
        </p:nvSpPr>
        <p:spPr>
          <a:xfrm>
            <a:off x="9051737" y="1290151"/>
            <a:ext cx="1115251" cy="303002"/>
          </a:xfrm>
          <a:prstGeom prst="flowChartProcess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dirty="0"/>
              <a:t>SGORM Plugin</a:t>
            </a:r>
            <a:endParaRPr lang="en-CA" sz="1000" dirty="0"/>
          </a:p>
        </p:txBody>
      </p:sp>
      <p:pic>
        <p:nvPicPr>
          <p:cNvPr id="293" name="Picture 292" descr="Fuel gauge">
            <a:extLst>
              <a:ext uri="{FF2B5EF4-FFF2-40B4-BE49-F238E27FC236}">
                <a16:creationId xmlns:a16="http://schemas.microsoft.com/office/drawing/2014/main" id="{DE3C188E-6661-BC35-BC06-8A91776AD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1480" y="2865409"/>
            <a:ext cx="1431894" cy="1003318"/>
          </a:xfrm>
          <a:prstGeom prst="rect">
            <a:avLst/>
          </a:prstGeom>
        </p:spPr>
      </p:pic>
      <p:sp>
        <p:nvSpPr>
          <p:cNvPr id="298" name="TextBox 297">
            <a:extLst>
              <a:ext uri="{FF2B5EF4-FFF2-40B4-BE49-F238E27FC236}">
                <a16:creationId xmlns:a16="http://schemas.microsoft.com/office/drawing/2014/main" id="{9BACA8D4-561F-5761-2873-CA5927490398}"/>
              </a:ext>
            </a:extLst>
          </p:cNvPr>
          <p:cNvSpPr txBox="1"/>
          <p:nvPr/>
        </p:nvSpPr>
        <p:spPr>
          <a:xfrm>
            <a:off x="10899491" y="2852145"/>
            <a:ext cx="107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Dashboards</a:t>
            </a:r>
            <a:endParaRPr lang="en-CA" sz="1400" dirty="0">
              <a:solidFill>
                <a:schemeClr val="bg1"/>
              </a:solidFill>
            </a:endParaRPr>
          </a:p>
        </p:txBody>
      </p:sp>
      <p:pic>
        <p:nvPicPr>
          <p:cNvPr id="302" name="Picture 301" descr="Magnifying glass showing decling performance">
            <a:extLst>
              <a:ext uri="{FF2B5EF4-FFF2-40B4-BE49-F238E27FC236}">
                <a16:creationId xmlns:a16="http://schemas.microsoft.com/office/drawing/2014/main" id="{AECCE46A-B5F8-0A79-3530-AF82D798BA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28147" y="4064898"/>
            <a:ext cx="1424062" cy="976188"/>
          </a:xfrm>
          <a:prstGeom prst="rect">
            <a:avLst/>
          </a:prstGeom>
        </p:spPr>
      </p:pic>
      <p:sp>
        <p:nvSpPr>
          <p:cNvPr id="307" name="TextBox 306">
            <a:extLst>
              <a:ext uri="{FF2B5EF4-FFF2-40B4-BE49-F238E27FC236}">
                <a16:creationId xmlns:a16="http://schemas.microsoft.com/office/drawing/2014/main" id="{EFC59380-0C41-A067-018B-37D86DCEA9A8}"/>
              </a:ext>
            </a:extLst>
          </p:cNvPr>
          <p:cNvSpPr txBox="1"/>
          <p:nvPr/>
        </p:nvSpPr>
        <p:spPr>
          <a:xfrm>
            <a:off x="10692335" y="4798858"/>
            <a:ext cx="10742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/>
                </a:solidFill>
              </a:rPr>
              <a:t>Reports</a:t>
            </a:r>
            <a:endParaRPr lang="en-CA" sz="1400" dirty="0">
              <a:solidFill>
                <a:schemeClr val="bg1"/>
              </a:solidFill>
            </a:endParaRP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2D6961E5-5999-84B4-84F1-09AD653590E6}"/>
              </a:ext>
            </a:extLst>
          </p:cNvPr>
          <p:cNvCxnSpPr>
            <a:stCxn id="286" idx="1"/>
            <a:endCxn id="74" idx="0"/>
          </p:cNvCxnSpPr>
          <p:nvPr/>
        </p:nvCxnSpPr>
        <p:spPr>
          <a:xfrm rot="10800000" flipV="1">
            <a:off x="7833339" y="1441652"/>
            <a:ext cx="1218399" cy="1766038"/>
          </a:xfrm>
          <a:prstGeom prst="bentConnector2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3DCC16F3-01AC-21EA-C02A-7BD0F2A31F3E}"/>
              </a:ext>
            </a:extLst>
          </p:cNvPr>
          <p:cNvSpPr/>
          <p:nvPr/>
        </p:nvSpPr>
        <p:spPr>
          <a:xfrm>
            <a:off x="200859" y="248421"/>
            <a:ext cx="8273704" cy="5930386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4" name="Flowchart: Predefined Process 93">
            <a:extLst>
              <a:ext uri="{FF2B5EF4-FFF2-40B4-BE49-F238E27FC236}">
                <a16:creationId xmlns:a16="http://schemas.microsoft.com/office/drawing/2014/main" id="{10E5D4A1-8A8B-310B-3BA9-E118ED1D8F83}"/>
              </a:ext>
            </a:extLst>
          </p:cNvPr>
          <p:cNvSpPr/>
          <p:nvPr/>
        </p:nvSpPr>
        <p:spPr>
          <a:xfrm>
            <a:off x="8922359" y="3532639"/>
            <a:ext cx="1572248" cy="295517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Tableau</a:t>
            </a:r>
            <a:endParaRPr lang="en-CA" sz="900" dirty="0"/>
          </a:p>
        </p:txBody>
      </p:sp>
      <p:sp>
        <p:nvSpPr>
          <p:cNvPr id="95" name="Flowchart: Predefined Process 94">
            <a:extLst>
              <a:ext uri="{FF2B5EF4-FFF2-40B4-BE49-F238E27FC236}">
                <a16:creationId xmlns:a16="http://schemas.microsoft.com/office/drawing/2014/main" id="{A6A2CC95-7D65-7AD4-BF1D-81A7C46EDA97}"/>
              </a:ext>
            </a:extLst>
          </p:cNvPr>
          <p:cNvSpPr/>
          <p:nvPr/>
        </p:nvSpPr>
        <p:spPr>
          <a:xfrm>
            <a:off x="8922359" y="3892020"/>
            <a:ext cx="1572248" cy="301536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900" dirty="0"/>
              <a:t>Looker</a:t>
            </a:r>
            <a:endParaRPr lang="en-CA" sz="900" dirty="0"/>
          </a:p>
        </p:txBody>
      </p:sp>
      <p:sp>
        <p:nvSpPr>
          <p:cNvPr id="104" name="Flowchart: Predefined Process 103">
            <a:extLst>
              <a:ext uri="{FF2B5EF4-FFF2-40B4-BE49-F238E27FC236}">
                <a16:creationId xmlns:a16="http://schemas.microsoft.com/office/drawing/2014/main" id="{E8811CBD-D57D-0658-42BC-757C424AFDEE}"/>
              </a:ext>
            </a:extLst>
          </p:cNvPr>
          <p:cNvSpPr/>
          <p:nvPr/>
        </p:nvSpPr>
        <p:spPr>
          <a:xfrm>
            <a:off x="8926895" y="4250955"/>
            <a:ext cx="1564380" cy="241353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900" dirty="0" err="1"/>
              <a:t>Streamlit</a:t>
            </a:r>
            <a:endParaRPr lang="en-CA" sz="900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7756F972-A40C-03B7-1059-0BC1615F767A}"/>
              </a:ext>
            </a:extLst>
          </p:cNvPr>
          <p:cNvCxnSpPr>
            <a:cxnSpLocks/>
            <a:stCxn id="140" idx="4"/>
            <a:endCxn id="240" idx="1"/>
          </p:cNvCxnSpPr>
          <p:nvPr/>
        </p:nvCxnSpPr>
        <p:spPr>
          <a:xfrm flipV="1">
            <a:off x="8129329" y="2987503"/>
            <a:ext cx="780979" cy="1268226"/>
          </a:xfrm>
          <a:prstGeom prst="bentConnector3">
            <a:avLst>
              <a:gd name="adj1" fmla="val 6421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8344DA9-4142-91C7-1003-382F9C68CDF2}"/>
              </a:ext>
            </a:extLst>
          </p:cNvPr>
          <p:cNvCxnSpPr>
            <a:cxnSpLocks/>
            <a:stCxn id="140" idx="4"/>
            <a:endCxn id="94" idx="1"/>
          </p:cNvCxnSpPr>
          <p:nvPr/>
        </p:nvCxnSpPr>
        <p:spPr>
          <a:xfrm flipV="1">
            <a:off x="8129329" y="3680398"/>
            <a:ext cx="793030" cy="575331"/>
          </a:xfrm>
          <a:prstGeom prst="bentConnector3">
            <a:avLst>
              <a:gd name="adj1" fmla="val 633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05E035BB-C905-17A7-3E98-8445E3F4DC75}"/>
              </a:ext>
            </a:extLst>
          </p:cNvPr>
          <p:cNvCxnSpPr>
            <a:cxnSpLocks/>
            <a:stCxn id="140" idx="4"/>
            <a:endCxn id="95" idx="1"/>
          </p:cNvCxnSpPr>
          <p:nvPr/>
        </p:nvCxnSpPr>
        <p:spPr>
          <a:xfrm flipV="1">
            <a:off x="8129329" y="4042788"/>
            <a:ext cx="793030" cy="212941"/>
          </a:xfrm>
          <a:prstGeom prst="bentConnector3">
            <a:avLst>
              <a:gd name="adj1" fmla="val 6333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BFAC34D-3E83-5126-B421-AF2337EF9733}"/>
              </a:ext>
            </a:extLst>
          </p:cNvPr>
          <p:cNvCxnSpPr>
            <a:cxnSpLocks/>
            <a:stCxn id="140" idx="4"/>
            <a:endCxn id="104" idx="1"/>
          </p:cNvCxnSpPr>
          <p:nvPr/>
        </p:nvCxnSpPr>
        <p:spPr>
          <a:xfrm>
            <a:off x="8129329" y="4255729"/>
            <a:ext cx="797566" cy="115903"/>
          </a:xfrm>
          <a:prstGeom prst="bentConnector3">
            <a:avLst>
              <a:gd name="adj1" fmla="val 6259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itle 1">
            <a:extLst>
              <a:ext uri="{FF2B5EF4-FFF2-40B4-BE49-F238E27FC236}">
                <a16:creationId xmlns:a16="http://schemas.microsoft.com/office/drawing/2014/main" id="{705139D5-EF1D-8EC3-8000-F88D0D5B82A4}"/>
              </a:ext>
            </a:extLst>
          </p:cNvPr>
          <p:cNvSpPr txBox="1">
            <a:spLocks/>
          </p:cNvSpPr>
          <p:nvPr/>
        </p:nvSpPr>
        <p:spPr>
          <a:xfrm>
            <a:off x="339482" y="6203890"/>
            <a:ext cx="3382751" cy="62558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err="1"/>
              <a:t>Shotgrid</a:t>
            </a:r>
            <a:r>
              <a:rPr lang="en-US" dirty="0"/>
              <a:t> ORM</a:t>
            </a:r>
            <a:endParaRPr lang="en-CA" dirty="0"/>
          </a:p>
        </p:txBody>
      </p:sp>
      <p:sp>
        <p:nvSpPr>
          <p:cNvPr id="132" name="Subtitle 2">
            <a:extLst>
              <a:ext uri="{FF2B5EF4-FFF2-40B4-BE49-F238E27FC236}">
                <a16:creationId xmlns:a16="http://schemas.microsoft.com/office/drawing/2014/main" id="{409FE37E-E992-5AFF-A36B-16B23931F55E}"/>
              </a:ext>
            </a:extLst>
          </p:cNvPr>
          <p:cNvSpPr txBox="1">
            <a:spLocks/>
          </p:cNvSpPr>
          <p:nvPr/>
        </p:nvSpPr>
        <p:spPr>
          <a:xfrm>
            <a:off x="3839170" y="6238738"/>
            <a:ext cx="4620474" cy="3175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800" dirty="0" err="1"/>
              <a:t>Shotgrid</a:t>
            </a:r>
            <a:r>
              <a:rPr lang="en-US" sz="1800" dirty="0"/>
              <a:t> Object Relational Model Management </a:t>
            </a:r>
          </a:p>
        </p:txBody>
      </p:sp>
      <p:sp>
        <p:nvSpPr>
          <p:cNvPr id="133" name="Subtitle 2">
            <a:extLst>
              <a:ext uri="{FF2B5EF4-FFF2-40B4-BE49-F238E27FC236}">
                <a16:creationId xmlns:a16="http://schemas.microsoft.com/office/drawing/2014/main" id="{73E8A132-95F9-17DE-F591-914A39B0A1B1}"/>
              </a:ext>
            </a:extLst>
          </p:cNvPr>
          <p:cNvSpPr txBox="1">
            <a:spLocks/>
          </p:cNvSpPr>
          <p:nvPr/>
        </p:nvSpPr>
        <p:spPr>
          <a:xfrm>
            <a:off x="3839169" y="6467553"/>
            <a:ext cx="3232895" cy="31750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800" dirty="0"/>
              <a:t>John E. Tran, 2024-Present</a:t>
            </a:r>
            <a:endParaRPr lang="en-CA" sz="1800" dirty="0"/>
          </a:p>
        </p:txBody>
      </p:sp>
      <p:sp>
        <p:nvSpPr>
          <p:cNvPr id="134" name="Flowchart: Predefined Process 133">
            <a:extLst>
              <a:ext uri="{FF2B5EF4-FFF2-40B4-BE49-F238E27FC236}">
                <a16:creationId xmlns:a16="http://schemas.microsoft.com/office/drawing/2014/main" id="{7BD53A21-CAAF-4CFC-12E6-85C1B72467F0}"/>
              </a:ext>
            </a:extLst>
          </p:cNvPr>
          <p:cNvSpPr/>
          <p:nvPr/>
        </p:nvSpPr>
        <p:spPr>
          <a:xfrm>
            <a:off x="9012195" y="5343690"/>
            <a:ext cx="1482412" cy="304730"/>
          </a:xfrm>
          <a:prstGeom prst="flowChartPredefined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Business Systems</a:t>
            </a:r>
            <a:endParaRPr lang="en-CA" sz="900" dirty="0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E8F2328D-B838-9FEA-042B-7ABFC5F0118A}"/>
              </a:ext>
            </a:extLst>
          </p:cNvPr>
          <p:cNvCxnSpPr>
            <a:cxnSpLocks/>
            <a:stCxn id="240" idx="3"/>
            <a:endCxn id="293" idx="1"/>
          </p:cNvCxnSpPr>
          <p:nvPr/>
        </p:nvCxnSpPr>
        <p:spPr>
          <a:xfrm>
            <a:off x="10494607" y="2987503"/>
            <a:ext cx="236873" cy="37956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: Elbow 178">
            <a:extLst>
              <a:ext uri="{FF2B5EF4-FFF2-40B4-BE49-F238E27FC236}">
                <a16:creationId xmlns:a16="http://schemas.microsoft.com/office/drawing/2014/main" id="{271917DD-B497-123A-9100-A7363ECE9CF2}"/>
              </a:ext>
            </a:extLst>
          </p:cNvPr>
          <p:cNvCxnSpPr>
            <a:cxnSpLocks/>
            <a:stCxn id="241" idx="3"/>
            <a:endCxn id="293" idx="1"/>
          </p:cNvCxnSpPr>
          <p:nvPr/>
        </p:nvCxnSpPr>
        <p:spPr>
          <a:xfrm>
            <a:off x="10494607" y="3328324"/>
            <a:ext cx="236873" cy="387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62E0B37A-DFFA-A799-4143-EA05AE371423}"/>
              </a:ext>
            </a:extLst>
          </p:cNvPr>
          <p:cNvCxnSpPr>
            <a:cxnSpLocks/>
            <a:stCxn id="94" idx="3"/>
            <a:endCxn id="293" idx="1"/>
          </p:cNvCxnSpPr>
          <p:nvPr/>
        </p:nvCxnSpPr>
        <p:spPr>
          <a:xfrm flipV="1">
            <a:off x="10494607" y="3367068"/>
            <a:ext cx="236873" cy="313330"/>
          </a:xfrm>
          <a:prstGeom prst="bentConnector3">
            <a:avLst>
              <a:gd name="adj1" fmla="val 5000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Flowchart: Predefined Process 198">
            <a:extLst>
              <a:ext uri="{FF2B5EF4-FFF2-40B4-BE49-F238E27FC236}">
                <a16:creationId xmlns:a16="http://schemas.microsoft.com/office/drawing/2014/main" id="{6EC47786-A193-DA42-0A19-B9B3B4484365}"/>
              </a:ext>
            </a:extLst>
          </p:cNvPr>
          <p:cNvSpPr/>
          <p:nvPr/>
        </p:nvSpPr>
        <p:spPr>
          <a:xfrm>
            <a:off x="9012195" y="5733446"/>
            <a:ext cx="1482412" cy="300540"/>
          </a:xfrm>
          <a:prstGeom prst="flowChartPredefinedProcess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Pipeline Systems</a:t>
            </a:r>
            <a:endParaRPr lang="en-CA" sz="900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FB91B3D-FC40-E924-DB3A-22F450A2B389}"/>
              </a:ext>
            </a:extLst>
          </p:cNvPr>
          <p:cNvCxnSpPr>
            <a:cxnSpLocks/>
            <a:stCxn id="140" idx="4"/>
            <a:endCxn id="134" idx="1"/>
          </p:cNvCxnSpPr>
          <p:nvPr/>
        </p:nvCxnSpPr>
        <p:spPr>
          <a:xfrm>
            <a:off x="8129329" y="4255729"/>
            <a:ext cx="882866" cy="1240326"/>
          </a:xfrm>
          <a:prstGeom prst="bentConnector3">
            <a:avLst>
              <a:gd name="adj1" fmla="val 565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847D5754-A984-E390-2376-1E681731F12E}"/>
              </a:ext>
            </a:extLst>
          </p:cNvPr>
          <p:cNvCxnSpPr>
            <a:cxnSpLocks/>
            <a:stCxn id="140" idx="4"/>
            <a:endCxn id="199" idx="1"/>
          </p:cNvCxnSpPr>
          <p:nvPr/>
        </p:nvCxnSpPr>
        <p:spPr>
          <a:xfrm>
            <a:off x="8129329" y="4255729"/>
            <a:ext cx="882866" cy="1627987"/>
          </a:xfrm>
          <a:prstGeom prst="bentConnector3">
            <a:avLst>
              <a:gd name="adj1" fmla="val 565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0085767-F9C0-84C2-4059-AE81563E837D}"/>
              </a:ext>
            </a:extLst>
          </p:cNvPr>
          <p:cNvCxnSpPr>
            <a:cxnSpLocks/>
            <a:stCxn id="241" idx="3"/>
            <a:endCxn id="302" idx="1"/>
          </p:cNvCxnSpPr>
          <p:nvPr/>
        </p:nvCxnSpPr>
        <p:spPr>
          <a:xfrm>
            <a:off x="10494607" y="3328324"/>
            <a:ext cx="233540" cy="122466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C37F8384-7C99-0BD1-743A-51C3057324B3}"/>
              </a:ext>
            </a:extLst>
          </p:cNvPr>
          <p:cNvCxnSpPr>
            <a:cxnSpLocks/>
            <a:stCxn id="95" idx="3"/>
            <a:endCxn id="302" idx="1"/>
          </p:cNvCxnSpPr>
          <p:nvPr/>
        </p:nvCxnSpPr>
        <p:spPr>
          <a:xfrm>
            <a:off x="10494607" y="4042788"/>
            <a:ext cx="233540" cy="51020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BF13AE4D-0AFF-EE6F-7F2A-58305C934AE4}"/>
              </a:ext>
            </a:extLst>
          </p:cNvPr>
          <p:cNvCxnSpPr>
            <a:cxnSpLocks/>
            <a:stCxn id="104" idx="3"/>
            <a:endCxn id="302" idx="1"/>
          </p:cNvCxnSpPr>
          <p:nvPr/>
        </p:nvCxnSpPr>
        <p:spPr>
          <a:xfrm>
            <a:off x="10491275" y="4371632"/>
            <a:ext cx="236872" cy="18136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lowchart: Predefined Process 2">
            <a:extLst>
              <a:ext uri="{FF2B5EF4-FFF2-40B4-BE49-F238E27FC236}">
                <a16:creationId xmlns:a16="http://schemas.microsoft.com/office/drawing/2014/main" id="{58B5419F-6BEC-C3D1-8BB1-D494C424323F}"/>
              </a:ext>
            </a:extLst>
          </p:cNvPr>
          <p:cNvSpPr/>
          <p:nvPr/>
        </p:nvSpPr>
        <p:spPr>
          <a:xfrm>
            <a:off x="8911035" y="1920521"/>
            <a:ext cx="1576149" cy="308274"/>
          </a:xfrm>
          <a:prstGeom prst="flowChartPredefinedProcess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Data Science</a:t>
            </a:r>
            <a:endParaRPr lang="en-CA" sz="900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3D2C70C7-FD91-C5AB-7A65-D989C4AC10FF}"/>
              </a:ext>
            </a:extLst>
          </p:cNvPr>
          <p:cNvCxnSpPr>
            <a:cxnSpLocks/>
            <a:endCxn id="9" idx="1"/>
          </p:cNvCxnSpPr>
          <p:nvPr/>
        </p:nvCxnSpPr>
        <p:spPr>
          <a:xfrm rot="5400000" flipH="1" flipV="1">
            <a:off x="7860771" y="3219414"/>
            <a:ext cx="1819087" cy="28224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lowchart: Predefined Process 8">
            <a:extLst>
              <a:ext uri="{FF2B5EF4-FFF2-40B4-BE49-F238E27FC236}">
                <a16:creationId xmlns:a16="http://schemas.microsoft.com/office/drawing/2014/main" id="{02009D79-0102-9E5C-341F-C4E688864E24}"/>
              </a:ext>
            </a:extLst>
          </p:cNvPr>
          <p:cNvSpPr/>
          <p:nvPr/>
        </p:nvSpPr>
        <p:spPr>
          <a:xfrm>
            <a:off x="8911437" y="2299492"/>
            <a:ext cx="1571658" cy="303002"/>
          </a:xfrm>
          <a:prstGeom prst="flowChartPredefinedProcess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Machine Learning/AI</a:t>
            </a:r>
            <a:endParaRPr lang="en-CA" sz="900" dirty="0"/>
          </a:p>
        </p:txBody>
      </p:sp>
      <p:sp>
        <p:nvSpPr>
          <p:cNvPr id="109" name="Flowchart: Predefined Process 108">
            <a:extLst>
              <a:ext uri="{FF2B5EF4-FFF2-40B4-BE49-F238E27FC236}">
                <a16:creationId xmlns:a16="http://schemas.microsoft.com/office/drawing/2014/main" id="{8F4E97B5-64BA-8E06-34F5-E9B023E82B6C}"/>
              </a:ext>
            </a:extLst>
          </p:cNvPr>
          <p:cNvSpPr/>
          <p:nvPr/>
        </p:nvSpPr>
        <p:spPr>
          <a:xfrm>
            <a:off x="8926895" y="4550924"/>
            <a:ext cx="1564380" cy="241353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900" dirty="0"/>
              <a:t>Excel</a:t>
            </a:r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319692DC-E0A1-82E7-3E25-124A575126D6}"/>
              </a:ext>
            </a:extLst>
          </p:cNvPr>
          <p:cNvCxnSpPr>
            <a:cxnSpLocks/>
            <a:endCxn id="3" idx="1"/>
          </p:cNvCxnSpPr>
          <p:nvPr/>
        </p:nvCxnSpPr>
        <p:spPr>
          <a:xfrm rot="5400000" flipH="1" flipV="1">
            <a:off x="7670007" y="3035840"/>
            <a:ext cx="2202209" cy="27984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Flowchart: Predefined Process 126">
            <a:extLst>
              <a:ext uri="{FF2B5EF4-FFF2-40B4-BE49-F238E27FC236}">
                <a16:creationId xmlns:a16="http://schemas.microsoft.com/office/drawing/2014/main" id="{7EABB4BE-F753-E0CE-5A3D-C9324CD6B304}"/>
              </a:ext>
            </a:extLst>
          </p:cNvPr>
          <p:cNvSpPr/>
          <p:nvPr/>
        </p:nvSpPr>
        <p:spPr>
          <a:xfrm>
            <a:off x="8926013" y="4851324"/>
            <a:ext cx="1564380" cy="241353"/>
          </a:xfrm>
          <a:prstGeom prst="flowChartPredefinedProcess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CA" sz="900" dirty="0"/>
              <a:t>…</a:t>
            </a:r>
          </a:p>
        </p:txBody>
      </p:sp>
      <p:cxnSp>
        <p:nvCxnSpPr>
          <p:cNvPr id="128" name="Connector: Elbow 127">
            <a:extLst>
              <a:ext uri="{FF2B5EF4-FFF2-40B4-BE49-F238E27FC236}">
                <a16:creationId xmlns:a16="http://schemas.microsoft.com/office/drawing/2014/main" id="{F3BD4C65-1E5E-3294-D71D-2E550FAECC4D}"/>
              </a:ext>
            </a:extLst>
          </p:cNvPr>
          <p:cNvCxnSpPr>
            <a:cxnSpLocks/>
            <a:stCxn id="140" idx="4"/>
            <a:endCxn id="109" idx="1"/>
          </p:cNvCxnSpPr>
          <p:nvPr/>
        </p:nvCxnSpPr>
        <p:spPr>
          <a:xfrm>
            <a:off x="8129329" y="4255729"/>
            <a:ext cx="797566" cy="415872"/>
          </a:xfrm>
          <a:prstGeom prst="bentConnector3">
            <a:avLst>
              <a:gd name="adj1" fmla="val 6259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A190AAE-F9C5-18A8-6A26-D4BC1C299FA8}"/>
              </a:ext>
            </a:extLst>
          </p:cNvPr>
          <p:cNvCxnSpPr>
            <a:cxnSpLocks/>
            <a:stCxn id="140" idx="4"/>
            <a:endCxn id="127" idx="1"/>
          </p:cNvCxnSpPr>
          <p:nvPr/>
        </p:nvCxnSpPr>
        <p:spPr>
          <a:xfrm>
            <a:off x="8129329" y="4255729"/>
            <a:ext cx="796684" cy="716272"/>
          </a:xfrm>
          <a:prstGeom prst="bentConnector3">
            <a:avLst>
              <a:gd name="adj1" fmla="val 6326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Flowchart: Predefined Process 171">
            <a:extLst>
              <a:ext uri="{FF2B5EF4-FFF2-40B4-BE49-F238E27FC236}">
                <a16:creationId xmlns:a16="http://schemas.microsoft.com/office/drawing/2014/main" id="{961A7FF5-68F4-DBF8-A3B0-41E011C33621}"/>
              </a:ext>
            </a:extLst>
          </p:cNvPr>
          <p:cNvSpPr/>
          <p:nvPr/>
        </p:nvSpPr>
        <p:spPr>
          <a:xfrm>
            <a:off x="10720315" y="2092212"/>
            <a:ext cx="1431894" cy="308274"/>
          </a:xfrm>
          <a:prstGeom prst="flowChartPredefinedProcess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Predictive Systems</a:t>
            </a:r>
            <a:endParaRPr lang="en-CA" sz="900" dirty="0"/>
          </a:p>
        </p:txBody>
      </p: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799C60D2-5365-3ABF-45A0-930C33455BCC}"/>
              </a:ext>
            </a:extLst>
          </p:cNvPr>
          <p:cNvCxnSpPr>
            <a:cxnSpLocks/>
            <a:stCxn id="3" idx="3"/>
            <a:endCxn id="172" idx="1"/>
          </p:cNvCxnSpPr>
          <p:nvPr/>
        </p:nvCxnSpPr>
        <p:spPr>
          <a:xfrm>
            <a:off x="10487184" y="2074658"/>
            <a:ext cx="233131" cy="1716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E67EB1D0-8392-A8BE-798E-20C57D4D9198}"/>
              </a:ext>
            </a:extLst>
          </p:cNvPr>
          <p:cNvCxnSpPr>
            <a:cxnSpLocks/>
            <a:stCxn id="9" idx="3"/>
            <a:endCxn id="172" idx="1"/>
          </p:cNvCxnSpPr>
          <p:nvPr/>
        </p:nvCxnSpPr>
        <p:spPr>
          <a:xfrm flipV="1">
            <a:off x="10483095" y="2246349"/>
            <a:ext cx="237220" cy="2046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5352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1812</TotalTime>
  <Words>179</Words>
  <Application>Microsoft Office PowerPoint</Application>
  <PresentationFormat>Widescreen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Courier New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Shotgrid ORM</dc:title>
  <dc:creator>John Tran</dc:creator>
  <cp:lastModifiedBy>John Tran</cp:lastModifiedBy>
  <cp:revision>48</cp:revision>
  <dcterms:created xsi:type="dcterms:W3CDTF">2023-11-05T23:59:14Z</dcterms:created>
  <dcterms:modified xsi:type="dcterms:W3CDTF">2025-02-08T17:33:00Z</dcterms:modified>
</cp:coreProperties>
</file>